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240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parte responde a segunda pergunta norteadora. Tese: escrever código nunca foi o trabalho todo. Se a IA barateia essa parte, o resto ganha peso. Uso os três complementos que o grupo ainda não tinha usado.
&lt;number&gt;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Karpathy cunhou o termo vibe coding em fevereiro de 2025: aceitar tudo sem ler, colar o erro, deixar o código crescer além da compreensão. Ele mesmo diz que serve para projeto descartável de fim de semana. Poucas semanas depois, Simon Willison reclamou que o termo estava sendo usado para qualquer código feito com IA. Para ele, vibe coding é construir software sem revisar o que o LLM escreve. Se você revisa, testa e consegue explicar, isso é desenvolvimento de software comum, e o LLM é só uma ferramenta. Willison não condena o vibe coding: acha ótimo para protótipos e ferramentas pessoais de baixo risco, mas alerta para segredos, dados privados e serviços cobrados por uso.
&lt;number&gt;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SWEBOK é o guia de referência da profissão, da IEEE Computer Society, e o SFIA mapeia cada área para competências profissionais. Ele divide a engenharia de software em 18 áreas. Agrupei aqui para ficar legível. Escrever código fica concentrado em Construção, e é ali que a IA atua com mais força. As outras dezessete são decisões: entender o problema, escolher a estrutura, garantir qualidade e segurança, manter funcionando. A IA pode apoiar, mas alguém precisa decidir e responder. E repare que Gerência de Configuração, a nossa disciplina, é uma das áreas oficiais.
&lt;number&gt;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Thoughtworks fez dois encontros em 2026 sobre o futuro da profissão. Duas conclusões: o Technology Radar pede volta aos fundamentos contra o débito cognitivo, o mesmo ponto do Pedro. E o Harmel-Law diz que a IA não pensa sozinha em requisitos não funcionais; alguém precisa especificar antes. É o exemplo do PDV do Fernando: contingência e certificado só aparecem se alguém pedir.
&lt;number&gt;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Juntando tudo: sobram quatro responsabilidades. Definir o problema, decidir, responder pelo resultado e controlar a evolução, que é a gerência de configuração. A regra do Willison depende dela: o commit é o ponto em que alguém assume o que a IA gerou. Exemplo prático: na implantação de um ERP, antes de cadastrar qualquer item foi preciso definir as regras de codificação. A IA gera mil cadastros rápido, mas não decide a regra certa nem percebe uma errada. Conclusão: a IA barateia o código; o resto da engenharia ganha peso.
&lt;number&gt;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&lt;number&gt;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parte responde a segunda pergunta norteadora. Tese: escrever código nunca foi o trabalho todo. Se a IA barateia essa parte, o resto ganha peso. Uso os três complementos que o grupo ainda não tinha usado.
&lt;number&gt;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 titulo lon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834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 formação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5544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Âncora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37744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Proficiência em Programação: Desempenho Acadêmico e Habilidades de Escrita - Previsão de Desempenho em Ciência da Computação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trabalhos relacionados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um contexto adicional e descreve trabalhos relacionados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08676" cy="329184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05840" y="265176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880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931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231636" y="2194560"/>
            <a:ext cx="5408676" cy="329184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688836" y="265176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8803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88836" y="3931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DirectGPT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da tarefa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08676" cy="4023360"/>
          </a:xfrm>
          <a:prstGeom prst="roundRect">
            <a:avLst>
              <a:gd name="adj" fmla="val 272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05840" y="205740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3337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Profissionais: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4023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tarefas com contexto;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1636" y="1600200"/>
            <a:ext cx="5408676" cy="4023360"/>
          </a:xfrm>
          <a:prstGeom prst="roundRect">
            <a:avLst>
              <a:gd name="adj" fmla="val 272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688836" y="205740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2860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88836" y="3337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6688836" y="4023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tarefa sem contexto;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da tarefa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Interdisciplinaridade;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390824" y="182880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665144" y="2103120"/>
            <a:ext cx="502920" cy="50292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874" y="22288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74320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no mundo real;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33008" y="182880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6507328" y="2103120"/>
            <a:ext cx="502920" cy="50292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058" y="222885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74320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com foco na interface gráfica;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9075191" y="182880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9349511" y="2103120"/>
            <a:ext cx="502920" cy="50292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241" y="222885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49511" y="274320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não trivial;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1969732" y="393192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2244052" y="4206240"/>
            <a:ext cx="502920" cy="50292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782" y="433197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244052" y="48463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Viável em termos de tempo;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4811916" y="393192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5086236" y="4206240"/>
            <a:ext cx="502920" cy="50292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966" y="4331970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086236" y="48463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clara;</a:t>
            </a:r>
            <a:endParaRPr lang="en-US" sz="1700" dirty="0"/>
          </a:p>
        </p:txBody>
      </p:sp>
      <p:sp>
        <p:nvSpPr>
          <p:cNvPr id="28" name="Shape 20"/>
          <p:cNvSpPr/>
          <p:nvPr/>
        </p:nvSpPr>
        <p:spPr>
          <a:xfrm>
            <a:off x="7654100" y="393192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1"/>
          <p:cNvSpPr/>
          <p:nvPr/>
        </p:nvSpPr>
        <p:spPr>
          <a:xfrm>
            <a:off x="7928420" y="4206240"/>
            <a:ext cx="502920" cy="50292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150" y="4331970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928420" y="48463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 cultural;</a:t>
            </a:r>
            <a:endParaRPr lang="en-US" sz="17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de pesquisa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395020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mede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na análise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de escrita (redação)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escrita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SCS1 (12 questões)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Conhecimento de computação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ICAR16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Raciocínio geral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 de controle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Tarefas de vibe coding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Desempenho em vibe coding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se quer prever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 ( 3 x 15 min 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Questionário inicial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e uso de LLM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da amostra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Codificação Vibe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1094415" cy="27432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97280" y="2880360"/>
            <a:ext cx="1188720" cy="118872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31775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256032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plataforma própria utilizando Claude Sonnet 4 da Anthropic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420" y="356616"/>
            <a:ext cx="10698855" cy="5916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Imagem do estu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84" y="411480"/>
            <a:ext cx="10589127" cy="5806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834640"/>
            <a:ext cx="278373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escrita se relaciona mais com o desempenho na tarefa descontextualizada do que nas duas tarefas com contexto 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4703978" y="196596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703978" y="2834640"/>
            <a:ext cx="278373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escrita tem correlação positiva com o desempenho em vibe coding? Essa correlação se mantém quando se controla o raciocínio geral?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493557" y="196596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493557" y="2834640"/>
            <a:ext cx="278373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previsão do desempenho, como a escrita se compara à computação?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2240280"/>
          </a:xfrm>
          <a:prstGeom prst="roundRect">
            <a:avLst>
              <a:gd name="adj" fmla="val 489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78308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escrita se relaciona mais com o desempenho na tarefa descontextualizada do que nas duas tarefas com contexto 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697480"/>
            <a:ext cx="8808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Não, os autores não encontraram evidência de que a escrita pese mais na tarefa sem contexto.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94415" cy="2240280"/>
          </a:xfrm>
          <a:prstGeom prst="roundRect">
            <a:avLst>
              <a:gd name="adj" fmla="val 489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914400" y="4251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RQ2a: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425196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escrita tem correlação positiva com o desempenho em vibe coding? Essa correlação se mantém quando se controla o raciocínio geral?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5166360"/>
            <a:ext cx="8808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mas a associação é pequena e deixa de ser significativa quando se desconta o raciocínio geral.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2240280"/>
          </a:xfrm>
          <a:prstGeom prst="roundRect">
            <a:avLst>
              <a:gd name="adj" fmla="val 489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783080"/>
            <a:ext cx="8808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previsão do desempenho, como a escrita se compara à computação?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697480"/>
            <a:ext cx="8808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computação contribui cerca do dobro da contribuição própria da escrita, mas as duas contribuem de forma independente.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6868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hipótese: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sabe mais computação estaria mais acostumado a trabalhar com LLMs ?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324" y="352044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49928" y="16002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4769968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769968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testaram: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769968" y="315468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Correlacionaram a frequência de uso de LLM, que cada participante informou no questionário inicial numa escala de 1 a 5, com as outras medidas.</a:t>
            </a:r>
            <a:endParaRPr lang="en-US" sz="1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1" y="3520440"/>
            <a:ext cx="365760" cy="365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51215" y="16002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8671255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8671255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8671255" y="315468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o uso declarado de LLM, menores foram o desempenho e a nota da redação. Com a computação, não houve relação.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4415" cy="2286000"/>
          </a:xfrm>
          <a:prstGeom prst="roundRect">
            <a:avLst>
              <a:gd name="adj" fmla="val 48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05840" y="2331720"/>
            <a:ext cx="822960" cy="82296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25374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94560" y="1828800"/>
            <a:ext cx="89912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e escrita tiveram correlação positiva e significativa com o desempenho em vibe coding. Só a da computação se manteve depois de controlado o raciocínio geral.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11094415" cy="164592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1005840" y="457200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" y="47777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94560" y="4343400"/>
            <a:ext cx="8991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contribuem de forma independente para o desempenho.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mercado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2880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Code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1149 Respostas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distribuídos globalmente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trabalham em funções de tecnologia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haviam utilizado IA no trabalho durante o ano anterior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233008" y="1463040"/>
            <a:ext cx="5410048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Logo Son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8" y="1783080"/>
            <a:ext cx="3291840" cy="8249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98768" y="274320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bilhões de linhas de código analisadas por dia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 ferramentas de análise e verificação de código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mercado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3776" y="1525227"/>
            <a:ext cx="11204143" cy="458478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Imagem do estu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0091"/>
            <a:ext cx="11094415" cy="447505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mercado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84704" y="1408176"/>
            <a:ext cx="8222288" cy="4818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Imagem do estu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568" y="1463040"/>
            <a:ext cx="8112560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mercado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00334" y="1408176"/>
            <a:ext cx="9991027" cy="4818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Imagem do estu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198" y="1463040"/>
            <a:ext cx="9881299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Escrito por Humanos VS Código Escrito por IAs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Human-Written vs. AI-Generated Code: A Large-Scale Study of Defects, Vulnerabilities, and Complexity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10048" cy="1600200"/>
          </a:xfrm>
          <a:prstGeom prst="roundRect">
            <a:avLst>
              <a:gd name="adj" fmla="val 68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de código (funções/métodos) em Python e Java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33008" y="1828800"/>
            <a:ext cx="5410048" cy="1600200"/>
          </a:xfrm>
          <a:prstGeom prst="roundRect">
            <a:avLst>
              <a:gd name="adj" fmla="val 68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598768" y="201168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mil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74320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públicos do GitHub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3515258" cy="1737360"/>
          </a:xfrm>
          <a:prstGeom prst="roundRect">
            <a:avLst>
              <a:gd name="adj" fmla="val 631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868680" y="443484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583430"/>
            <a:ext cx="297180" cy="2971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68680" y="516636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de código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338218" y="4160520"/>
            <a:ext cx="3515258" cy="1737360"/>
          </a:xfrm>
          <a:prstGeom prst="roundRect">
            <a:avLst>
              <a:gd name="adj" fmla="val 631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4658258" y="443484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848" y="4583430"/>
            <a:ext cx="297180" cy="2971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58258" y="516636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segurança (CWE)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8127797" y="4160520"/>
            <a:ext cx="3515258" cy="1737360"/>
          </a:xfrm>
          <a:prstGeom prst="roundRect">
            <a:avLst>
              <a:gd name="adj" fmla="val 631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8447837" y="443484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427" y="4583430"/>
            <a:ext cx="297180" cy="2971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7837" y="516636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estrutural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Escrito por Humanos VS Código Escrito por 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3776" y="1521946"/>
            <a:ext cx="5474056" cy="46370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Imagem do estu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6810"/>
            <a:ext cx="5364328" cy="45273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23864" y="1704834"/>
            <a:ext cx="5474056" cy="42712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Imagem do estu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1759698"/>
            <a:ext cx="5364328" cy="41615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Escrito por Humanos VS Código Escrito por 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37323" y="1408176"/>
            <a:ext cx="8917049" cy="4818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Imagem do estu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187" y="1463040"/>
            <a:ext cx="8807321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 conhecimentos valiosos dentro de um ambiente de desenvolvimento assistido por IAs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10048" cy="1920240"/>
          </a:xfrm>
          <a:prstGeom prst="roundRect">
            <a:avLst>
              <a:gd name="adj" fmla="val 57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249174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26860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194560"/>
            <a:ext cx="3672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ciências da computação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233008" y="1920240"/>
            <a:ext cx="5410048" cy="1920240"/>
          </a:xfrm>
          <a:prstGeom prst="roundRect">
            <a:avLst>
              <a:gd name="adj" fmla="val 57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598768" y="249174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78" y="268605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50328" y="2194560"/>
            <a:ext cx="3672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Transposição de ideias e requisitos em texto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5410048" cy="1920240"/>
          </a:xfrm>
          <a:prstGeom prst="roundRect">
            <a:avLst>
              <a:gd name="adj" fmla="val 57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914400" y="468630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" y="4880610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65960" y="4389120"/>
            <a:ext cx="3672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erros funcionais e vulnerabilidades</a:t>
            </a:r>
            <a:endParaRPr lang="en-US" sz="2100" dirty="0"/>
          </a:p>
        </p:txBody>
      </p:sp>
      <p:sp>
        <p:nvSpPr>
          <p:cNvPr id="16" name="Shape 11"/>
          <p:cNvSpPr/>
          <p:nvPr/>
        </p:nvSpPr>
        <p:spPr>
          <a:xfrm>
            <a:off x="6233008" y="4114800"/>
            <a:ext cx="5410048" cy="1920240"/>
          </a:xfrm>
          <a:prstGeom prst="roundRect">
            <a:avLst>
              <a:gd name="adj" fmla="val 57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6598768" y="468630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078" y="488061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50328" y="4389120"/>
            <a:ext cx="3672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e domínio de ferramentas de qualidade de software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uma pessoa precisa saber para transformar uma ideia em software que funciona?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sem saber programar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dos usuários do Replit nunca escrevem uma linha de código, segundo o CEO da plataforma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515258" cy="3017520"/>
          </a:xfrm>
          <a:prstGeom prst="roundRect">
            <a:avLst>
              <a:gd name="adj" fmla="val 363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mi+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1772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no Replit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38218" y="2926080"/>
            <a:ext cx="3515258" cy="3017520"/>
          </a:xfrm>
          <a:prstGeom prst="roundRect">
            <a:avLst>
              <a:gd name="adj" fmla="val 363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703978" y="338328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mi+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461772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criados no Lovable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2926080"/>
            <a:ext cx="3515258" cy="3017520"/>
          </a:xfrm>
          <a:prstGeom prst="roundRect">
            <a:avLst>
              <a:gd name="adj" fmla="val 363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493557" y="338328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mi+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493557" y="461772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do Cursor em 2025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 reunidos por Thorgeirsson, Weidmann e Su (2026)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experimento escondeu o código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3383280"/>
          </a:xfrm>
          <a:prstGeom prst="roundRect">
            <a:avLst>
              <a:gd name="adj" fmla="val 324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0120" y="201168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200400"/>
            <a:ext cx="2692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 a IA visível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338218" y="1600200"/>
            <a:ext cx="3515258" cy="3383280"/>
          </a:xfrm>
          <a:prstGeom prst="roundRect">
            <a:avLst>
              <a:gd name="adj" fmla="val 324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749698" y="201168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298" y="2240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49698" y="3200400"/>
            <a:ext cx="2692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do app visível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8127797" y="1600200"/>
            <a:ext cx="3515258" cy="3383280"/>
          </a:xfrm>
          <a:prstGeom prst="roundRect">
            <a:avLst>
              <a:gd name="adj" fmla="val 324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8539277" y="2011680"/>
            <a:ext cx="914400" cy="91440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7877" y="22402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39277" y="3200400"/>
            <a:ext cx="2692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borrado: sem leitura, sem edição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estudantes universitários · 3 tarefas de 15 minutos · testes prévios de computação, escrita e raciocínio geral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Thorgeirsson, Weidmann e Su (2026)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computação previu o desempenho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o desempenho (r)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1911096"/>
            <a:ext cx="6400800" cy="38404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32688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0,39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2505456"/>
            <a:ext cx="4759569" cy="384048"/>
          </a:xfrm>
          <a:prstGeom prst="rect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685649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Removendo o efeito do raciocínio geral (r parcial)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43200" y="3785616"/>
            <a:ext cx="4595446" cy="38404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7521526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  p = 0,005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0" y="4379976"/>
            <a:ext cx="3118338" cy="384048"/>
          </a:xfrm>
          <a:prstGeom prst="rect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044418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0,19 não significativo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914400" y="51206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única explicada: </a:t>
            </a:r>
            <a:r>
              <a:rPr lang="en-US" sz="2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12,5%</a:t>
            </a:r>
            <a:r>
              <a:rPr lang="en-US" sz="2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computação, </a:t>
            </a:r>
            <a:r>
              <a:rPr lang="en-US" sz="2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5,9%</a:t>
            </a:r>
            <a:r>
              <a:rPr lang="en-US" sz="2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escrita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Thorgeirsson, Weidmann e Su (2026), tabela 3 e seção 8.2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do pedido prevê o sucesso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754880" cy="2651760"/>
          </a:xfrm>
          <a:prstGeom prst="roundRect">
            <a:avLst>
              <a:gd name="adj" fmla="val 41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60120" y="1920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E0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valor na tela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88175" y="1600200"/>
            <a:ext cx="4754880" cy="2651760"/>
          </a:xfrm>
          <a:prstGeom prst="roundRect">
            <a:avLst>
              <a:gd name="adj" fmla="val 41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299655" y="1920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E07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299655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 valor para quem chamou a função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638648" y="246888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2697480"/>
            <a:ext cx="45720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457200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1005840" y="4572000"/>
            <a:ext cx="101800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técnico fraco só se correlaciona com a falha. O que prevê o sucesso é a informação que o pedido carrega.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Lucchetti et al. (2025); exemplo relatado por Thorgeirsson, Weidmann e Su (2026)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amplifica a base que já existe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1,15x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4612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conclusão de quem usou o Codex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4703978" y="201168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1,8x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703978" y="3246120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nas tarefas de quem usou o Codex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493557" y="19659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tinha base ganhou mais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493557" y="2880360"/>
            <a:ext cx="278373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de maior nota no pré-teste, quem usou o Codex foi melhor no teste de retenção, uma semana depois.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iniciantes de 10 a 17 anos · 45 tarefas de Python · metade com acesso ao Codex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Kazemitabaar et al. (2023)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ideia cabe em uma frase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 PDV que emite nota fiscal.”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25603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SEFAZ fora do ar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2783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caixa faz em contingência?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224028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703978" y="25603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item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703978" y="3200400"/>
            <a:ext cx="2783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terminais vendem ao mesmo tempo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27797" y="224028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493557" y="25603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digital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493557" y="3200400"/>
            <a:ext cx="2783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e quando vence?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1005840" y="49377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itens de configuração: só entram sob controle se alguém souber que existem.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não dizem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4297680"/>
          </a:xfrm>
          <a:prstGeom prst="roundRect">
            <a:avLst>
              <a:gd name="adj" fmla="val 312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48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8803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Correlação, não causa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794760"/>
            <a:ext cx="27837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estudo é transversal: computação prevê o desempenho, mas não prova que seja obrigatória.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38218" y="1600200"/>
            <a:ext cx="3515258" cy="4297680"/>
          </a:xfrm>
          <a:prstGeom prst="roundRect">
            <a:avLst>
              <a:gd name="adj" fmla="val 312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703978" y="196596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858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3978" y="28803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escrita também conta</a:t>
            </a:r>
            <a:endParaRPr lang="en-US" sz="2300" dirty="0"/>
          </a:p>
        </p:txBody>
      </p:sp>
      <p:sp>
        <p:nvSpPr>
          <p:cNvPr id="12" name="Text 8"/>
          <p:cNvSpPr txBox="1"/>
          <p:nvPr/>
        </p:nvSpPr>
        <p:spPr>
          <a:xfrm>
            <a:off x="4703978" y="3794760"/>
            <a:ext cx="27837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5,9% da variância sozinha e quase não se relaciona com computação (r = 0,126).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127797" y="1600200"/>
            <a:ext cx="3515258" cy="4297680"/>
          </a:xfrm>
          <a:prstGeom prst="roundRect">
            <a:avLst>
              <a:gd name="adj" fmla="val 312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8493557" y="196596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6437" y="2148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93557" y="28803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frequente de IA</a:t>
            </a:r>
            <a:endParaRPr lang="en-US" sz="2300" dirty="0"/>
          </a:p>
        </p:txBody>
      </p:sp>
      <p:sp>
        <p:nvSpPr>
          <p:cNvPr id="17" name="Text 12"/>
          <p:cNvSpPr txBox="1"/>
          <p:nvPr/>
        </p:nvSpPr>
        <p:spPr>
          <a:xfrm>
            <a:off x="8493557" y="3794760"/>
            <a:ext cx="27837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negativa com o desempenho (r = −0,258). A direção não é conhecida.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traduz intenção em código.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sabe o que precisa existir não consegue pedir, nem perceber que faltou.</a:t>
            </a:r>
            <a:endParaRPr lang="en-US" sz="4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máquina escreve o código, o que sobra para o humano saber?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Tese: escrever código sempre foi </a:t>
            </a:r>
            <a:r>
              <a:rPr lang="en-US" sz="24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uma parte</a:t>
            </a:r>
            <a:r>
              <a:rPr lang="en-US" sz="2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engenharia de software.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Willison · SWEBOK v4 / SFIA 9 · Thoughtworks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programação com IA é vibe coding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410048" cy="3794760"/>
          </a:xfrm>
          <a:prstGeom prst="roundRect">
            <a:avLst>
              <a:gd name="adj" fmla="val 289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960120" y="178308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KARPATHY, 2025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214884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880360"/>
            <a:ext cx="458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tudo sem ler as diferenças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o erro e pede para corrigir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cresce além da compreensão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projetos descartáveis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233008" y="1463040"/>
            <a:ext cx="5410048" cy="3794760"/>
          </a:xfrm>
          <a:prstGeom prst="roundRect">
            <a:avLst>
              <a:gd name="adj" fmla="val 289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644488" y="178308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WILLISON, 2025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44488" y="214884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assistida por IA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644488" y="2880360"/>
            <a:ext cx="45870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o código gerado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de verdade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 explicar a outra pessoa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desenvolvimento de software comum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960120" y="548640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Willison:</a:t>
            </a: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commitar código que não se consegue explicar.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SWEBOK v4: 18 áreas de conhecimento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oficial da IEEE Computer Society (2024), mapeado para o SFIA 9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567864" cy="178308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822960" y="1901952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PROBLEMA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· Modelos e Métodos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390824" y="1645920"/>
            <a:ext cx="2567864" cy="178308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3665144" y="1901952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A ESTRUTURA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665144" y="224028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· Design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33008" y="1645920"/>
            <a:ext cx="2567864" cy="178308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6507328" y="1901952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07328" y="224028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507328" y="288036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IA mais atua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075191" y="1645920"/>
            <a:ext cx="2567864" cy="178308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9349511" y="1901952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FUNCIONA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349511" y="224028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· Qualidade · Segurança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3657600"/>
            <a:ext cx="2567864" cy="178308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822960" y="3913632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FUNCIONANDO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25196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· Manutenção · </a:t>
            </a:r>
            <a:r>
              <a:rPr lang="en-US" sz="17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de Configuração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390824" y="3657600"/>
            <a:ext cx="2567864" cy="178308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3665144" y="3913632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 TRABALHO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665144" y="425196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· Processo · Economia · Prática Profissional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233008" y="3657600"/>
            <a:ext cx="2567864" cy="1783080"/>
          </a:xfrm>
          <a:prstGeom prst="roundRect">
            <a:avLst>
              <a:gd name="adj" fmla="val 615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 txBox="1"/>
          <p:nvPr/>
        </p:nvSpPr>
        <p:spPr>
          <a:xfrm>
            <a:off x="6507328" y="3913632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4251960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· Matemática · Engenharia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forte em </a:t>
            </a:r>
            <a:r>
              <a:rPr lang="en-US" sz="19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área. As outras </a:t>
            </a:r>
            <a:r>
              <a:rPr lang="en-US" sz="19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dezessete</a:t>
            </a: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exigem alguém que conheça o problema, decida e responda pelo resultado.</a:t>
            </a:r>
            <a:endParaRPr lang="en-US" sz="19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indústria chega à mesma conclusão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Thoughtworks · Future of Software Development, 2026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10048" cy="3246120"/>
          </a:xfrm>
          <a:prstGeom prst="roundRect">
            <a:avLst>
              <a:gd name="adj" fmla="val 338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227457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74520" y="2121408"/>
            <a:ext cx="367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RADAR, ABR. 2026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874520" y="242316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aos fundamentos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154680"/>
            <a:ext cx="4587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a base de engenharia para combater o débito cognitivo do software feito com IA.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233008" y="1783080"/>
            <a:ext cx="5410048" cy="3246120"/>
          </a:xfrm>
          <a:prstGeom prst="roundRect">
            <a:avLst>
              <a:gd name="adj" fmla="val 338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6644488" y="210312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938" y="227457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558888" y="2121408"/>
            <a:ext cx="367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HARMEL-LAW, JUL. 2026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558888" y="2423160"/>
            <a:ext cx="367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 funcionais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6644488" y="3154680"/>
            <a:ext cx="4587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entrega funcionalidade, mas não deduz confiabilidade, segurança e escala. Especificar antes, de forma testável.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 txBox="1"/>
          <p:nvPr/>
        </p:nvSpPr>
        <p:spPr>
          <a:xfrm>
            <a:off x="1005840" y="530352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 impressiona ≠ sistema pronto para produção.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sobra para o humano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2567864" cy="2880360"/>
          </a:xfrm>
          <a:prstGeom prst="roundRect">
            <a:avLst>
              <a:gd name="adj" fmla="val 42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60604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problema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747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completos e testáveis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390824" y="1508760"/>
            <a:ext cx="2567864" cy="2880360"/>
          </a:xfrm>
          <a:prstGeom prst="roundRect">
            <a:avLst>
              <a:gd name="adj" fmla="val 42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3710864" y="178308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710864" y="260604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3710864" y="34747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trade-offs registrados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33008" y="1508760"/>
            <a:ext cx="2567864" cy="2880360"/>
          </a:xfrm>
          <a:prstGeom prst="roundRect">
            <a:avLst>
              <a:gd name="adj" fmla="val 42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6553048" y="178308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553048" y="260604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pelo resultado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6553048" y="34747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Revisar, testar e explicar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075191" y="1508760"/>
            <a:ext cx="2567864" cy="2880360"/>
          </a:xfrm>
          <a:prstGeom prst="roundRect">
            <a:avLst>
              <a:gd name="adj" fmla="val 42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9395231" y="178308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9395231" y="260604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a evolução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9395231" y="3474720"/>
            <a:ext cx="1927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de configuração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60120" y="5074920"/>
            <a:ext cx="731520" cy="73152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25780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965960" y="4937760"/>
            <a:ext cx="9265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commit é onde o humano assume o código da IA.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1965960" y="544068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ADRs e regras viram itens de configuração: versionados e rastreados junto com o código.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FOWLER, M. Future Of Software Development. martinfowler.com, 2026.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HARMEL-LAW, A. Are non-functional requirements the missing guardrail for AI-generated code? Thoughtworks, 2026.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KARPATHY, A. Publicação que cunhou o termo “vibe coding”. X, fev. 2025.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SFIA FOUNDATION. SFIA v9 and SWEBOK v4: The guide to the software engineering body of knowledge. 2026.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THORGEIRSSON, S.; WEIDMANN, T. B.; SU, Z. Computer Science Achievement and Writing Skills Predict Vibe Coding Proficiency. CHI ’26, ACM, 2026.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THOUGHTWORKS. Technology Radar urges a return to engineering fundamentals to combat cognitive debt. 2026.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WILLISON, S. Not all AI-assisted programming is vibe coding. Simon Willison’s Weblog, 2025.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forma um desenvolvedor experiente – e o que acontece se as tarefas de iniciante desaparecem para a IA?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KOSMYNA / LUCCHETTI, F / THORGEIRSSON, S.; WEIDMANN, T.; SU, Z.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com o cérebro e a capacidade técnica ao programar usando IA.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14400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básicos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024" y="3218688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41368" y="237744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4907128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4907128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Analítica</a:t>
            </a:r>
            <a:endParaRPr lang="en-US" sz="2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751" y="3218688"/>
            <a:ext cx="502920" cy="502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534095" y="237744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 txBox="1"/>
          <p:nvPr/>
        </p:nvSpPr>
        <p:spPr>
          <a:xfrm>
            <a:off x="8899855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8899855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Atrito Cognitivo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IA precisa de nós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632808" y="141732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632808" y="1417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48" y="2194560"/>
            <a:ext cx="0" cy="32004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566160" y="2514600"/>
            <a:ext cx="5059375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566160" y="2514600"/>
            <a:ext cx="0" cy="32004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625535" y="2514600"/>
            <a:ext cx="0" cy="32004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463040" y="2834640"/>
            <a:ext cx="4206240" cy="3017520"/>
          </a:xfrm>
          <a:prstGeom prst="roundRect">
            <a:avLst>
              <a:gd name="adj" fmla="val 363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828800" y="3108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do problema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794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7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5029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sucesso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22415" y="2834640"/>
            <a:ext cx="4206240" cy="3017520"/>
          </a:xfrm>
          <a:prstGeom prst="roundRect">
            <a:avLst>
              <a:gd name="adj" fmla="val 363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888175" y="3108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palavras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88175" y="3794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7200" dirty="0"/>
          </a:p>
        </p:txBody>
      </p:sp>
      <p:sp>
        <p:nvSpPr>
          <p:cNvPr id="16" name="Text 14"/>
          <p:cNvSpPr txBox="1"/>
          <p:nvPr/>
        </p:nvSpPr>
        <p:spPr>
          <a:xfrm>
            <a:off x="6888175" y="5029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sucesso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Lucchetti et al. (Northeastern University — NAACL)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 a capacidade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em Ciência da Computação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760720" y="1920240"/>
            <a:ext cx="3840480" cy="3657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631375" y="1463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+0.39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960120" y="29718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de Escrita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760720" y="3429000"/>
            <a:ext cx="2855742" cy="3657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9631375" y="29718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960120" y="4480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diário de LLM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760720" y="4937760"/>
            <a:ext cx="2540625" cy="365760"/>
          </a:xfrm>
          <a:prstGeom prst="rect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631375" y="44805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-0.258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Thorgeirsson, Weidmann &amp; Su (ETH Zurich — CHI)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Cognitivo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3383280"/>
          </a:xfrm>
          <a:prstGeom prst="roundRect">
            <a:avLst>
              <a:gd name="adj" fmla="val 324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60120" y="178308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19773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83080"/>
            <a:ext cx="358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Manual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233008" y="1463040"/>
            <a:ext cx="5410048" cy="3383280"/>
          </a:xfrm>
          <a:prstGeom prst="roundRect">
            <a:avLst>
              <a:gd name="adj" fmla="val 324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644488" y="1783080"/>
            <a:ext cx="777240" cy="77724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798" y="197739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50328" y="1783080"/>
            <a:ext cx="358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LLM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644488" y="2926080"/>
            <a:ext cx="458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-55% de conectividade neural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Retenção: 83% de falha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48640" y="512064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1005840" y="512064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sem esforço → desliga o cérebro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82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Kosmyna et al. (MIT Media Lab — 2025)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 err="1"/>
              <a:t>Conclusão</a:t>
            </a: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Modelo “Brain-to-LLM”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358488" y="1371600"/>
            <a:ext cx="3474720" cy="73152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358488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Autônomo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5848" y="2103120"/>
            <a:ext cx="0" cy="27432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306269" y="2377440"/>
            <a:ext cx="7579157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06269" y="2377440"/>
            <a:ext cx="0" cy="27432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515258" cy="1188720"/>
          </a:xfrm>
          <a:prstGeom prst="roundRect">
            <a:avLst>
              <a:gd name="adj" fmla="val 923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+78% de retenção e memória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95848" y="2377440"/>
            <a:ext cx="0" cy="27432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338218" y="2651760"/>
            <a:ext cx="3515258" cy="1188720"/>
          </a:xfrm>
          <a:prstGeom prst="roundRect">
            <a:avLst>
              <a:gd name="adj" fmla="val 923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612538" y="265176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885426" y="2377440"/>
            <a:ext cx="0" cy="27432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127797" y="2651760"/>
            <a:ext cx="3515258" cy="1188720"/>
          </a:xfrm>
          <a:prstGeom prst="roundRect">
            <a:avLst>
              <a:gd name="adj" fmla="val 923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8402117" y="265176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pensar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3108960" cy="1280160"/>
          </a:xfrm>
          <a:prstGeom prst="roundRect">
            <a:avLst>
              <a:gd name="adj" fmla="val 857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22960" y="43434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Esboço Lógico</a:t>
            </a:r>
            <a:endParaRPr lang="en-US" sz="2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884" y="4754880"/>
            <a:ext cx="457200" cy="4572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541368" y="4343400"/>
            <a:ext cx="3108960" cy="128016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4815688" y="43434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Amplificação (IA)</a:t>
            </a:r>
            <a:endParaRPr lang="en-US" sz="2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1" y="4754880"/>
            <a:ext cx="457200" cy="4572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534095" y="4343400"/>
            <a:ext cx="3108960" cy="1280160"/>
          </a:xfrm>
          <a:prstGeom prst="roundRect">
            <a:avLst>
              <a:gd name="adj" fmla="val 857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 txBox="1"/>
          <p:nvPr/>
        </p:nvSpPr>
        <p:spPr>
          <a:xfrm>
            <a:off x="8808415" y="43434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Arquitetural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E0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DO GRUPO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66648" y="393192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66648" y="3931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124048" y="393192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124048" y="3931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181448" y="393192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181448" y="3931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238848" y="393192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238848" y="3931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296248" y="393192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22345C"/>
          </a:solidFill>
          <a:ln w="12700">
            <a:solidFill>
              <a:srgbClr val="2234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9296248" y="3931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bilidades e Formacao">
  <a:themeElements>
    <a:clrScheme name="Habilidades e Formacao">
      <a:dk1>
        <a:srgbClr val="1B2333"/>
      </a:dk1>
      <a:lt1>
        <a:srgbClr val="FFFFFF"/>
      </a:lt1>
      <a:dk2>
        <a:srgbClr val="14213D"/>
      </a:dk2>
      <a:lt2>
        <a:srgbClr val="F1F4F9"/>
      </a:lt2>
      <a:accent1>
        <a:srgbClr val="14213D"/>
      </a:accent1>
      <a:accent2>
        <a:srgbClr val="E07A2E"/>
      </a:accent2>
      <a:accent3>
        <a:srgbClr val="8A9BB8"/>
      </a:accent3>
      <a:accent4>
        <a:srgbClr val="5B6576"/>
      </a:accent4>
      <a:accent5>
        <a:srgbClr val="22345C"/>
      </a:accent5>
      <a:accent6>
        <a:srgbClr val="B3541E"/>
      </a:accent6>
      <a:hlink>
        <a:srgbClr val="22345C"/>
      </a:hlink>
      <a:folHlink>
        <a:srgbClr val="5B6576"/>
      </a:folHlink>
    </a:clrScheme>
    <a:fontScheme name="Habilidades e Formaca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2447</Words>
  <Application>Microsoft Office PowerPoint</Application>
  <PresentationFormat>Widescreen</PresentationFormat>
  <Paragraphs>372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Courier New</vt:lpstr>
      <vt:lpstr>Habilidades e Formacao</vt:lpstr>
      <vt:lpstr>Apresentação do PowerPoint</vt:lpstr>
      <vt:lpstr>Apresentação do PowerPoint</vt:lpstr>
      <vt:lpstr>Histórico e trabalhos relacionados</vt:lpstr>
      <vt:lpstr>Desenho da tarefa</vt:lpstr>
      <vt:lpstr>Desenho da tarefa</vt:lpstr>
      <vt:lpstr>Instrumentos de pesquisa</vt:lpstr>
      <vt:lpstr>Plataforma de Codificação Vibe</vt:lpstr>
      <vt:lpstr>Apresentação do PowerPoint</vt:lpstr>
      <vt:lpstr>Método</vt:lpstr>
      <vt:lpstr>Resultados</vt:lpstr>
      <vt:lpstr>Resultados</vt:lpstr>
      <vt:lpstr>Análise Exploratória</vt:lpstr>
      <vt:lpstr>Conclusão</vt:lpstr>
      <vt:lpstr>Pesquisa de mercado</vt:lpstr>
      <vt:lpstr>Pesquisa de mercado</vt:lpstr>
      <vt:lpstr>Pesquisa de mercado</vt:lpstr>
      <vt:lpstr>Pesquisa de mercado</vt:lpstr>
      <vt:lpstr>Código Escrito por Humanos VS Código Escrito por IAs</vt:lpstr>
      <vt:lpstr>Código Escrito por Humanos VS Código Escrito por IAs</vt:lpstr>
      <vt:lpstr>Código Escrito por Humanos VS Código Escrito por IAs</vt:lpstr>
      <vt:lpstr>Conclusão</vt:lpstr>
      <vt:lpstr>O que uma pessoa precisa saber para transformar uma ideia em software que funciona?</vt:lpstr>
      <vt:lpstr>O experimento escondeu o código</vt:lpstr>
      <vt:lpstr>Saber computação previu o desempenho</vt:lpstr>
      <vt:lpstr>O conteúdo do pedido prevê o sucesso</vt:lpstr>
      <vt:lpstr>A IA amplifica a base que já existe</vt:lpstr>
      <vt:lpstr>Uma ideia cabe em uma frase</vt:lpstr>
      <vt:lpstr>O que os dados não dizem</vt:lpstr>
      <vt:lpstr>Apresentação do PowerPoint</vt:lpstr>
      <vt:lpstr>Apresentação do PowerPoint</vt:lpstr>
      <vt:lpstr>Nem toda programação com IA é vibe coding</vt:lpstr>
      <vt:lpstr>SWEBOK v4: 18 áreas de conhecimento</vt:lpstr>
      <vt:lpstr>A indústria chega à mesma conclusão</vt:lpstr>
      <vt:lpstr>O que sobra para o humano</vt:lpstr>
      <vt:lpstr>Referências</vt:lpstr>
      <vt:lpstr>Apresentação do PowerPoint</vt:lpstr>
      <vt:lpstr>O que acontece com o cérebro e a capacidade técnica ao programar usando IA.</vt:lpstr>
      <vt:lpstr>O que a IA precisa de nós</vt:lpstr>
      <vt:lpstr>De onde vem a capacidade</vt:lpstr>
      <vt:lpstr>Custo Cognitivo</vt:lpstr>
      <vt:lpstr>Conclusão: Modelo “Brain-to-LLM”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Habilidades e formação</dc:title>
  <dc:subject>PptxGenJS Presentation</dc:subject>
  <dc:creator>PptxGenJS</dc:creator>
  <cp:lastModifiedBy>DANIEL PIRES</cp:lastModifiedBy>
  <cp:revision>2</cp:revision>
  <dcterms:created xsi:type="dcterms:W3CDTF">2026-10-15T22:46:31Z</dcterms:created>
  <dcterms:modified xsi:type="dcterms:W3CDTF">2026-10-15T23:35:25Z</dcterms:modified>
</cp:coreProperties>
</file>