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18288000" cy="10287000"/>
  <p:notesSz cx="6858000" cy="9144000"/>
  <p:embeddedFontLst>
    <p:embeddedFont>
      <p:font typeface="IBM Plex Sans Bold"/>
      <p:bold r:id="rId45"/>
    </p:embeddedFont>
    <p:embeddedFont>
      <p:font typeface="IBM Plex Sans"/>
      <p:regular r:id="rId46"/>
    </p:embeddedFont>
    <p:embeddedFont>
      <p:font typeface="Source Serif Pro Bold"/>
      <p:bold r:id="rId47"/>
    </p:embeddedFont>
    <p:embeddedFont>
      <p:font typeface="Arial Bold Italics"/>
      <p:boldItalic r:id="rId48"/>
    </p:embeddedFont>
    <p:embeddedFont>
      <p:font typeface="Arial Bold"/>
      <p:bold r:id="rId49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font" Target="fonts/Font_1_IBM_Plex_Sans_Bold_Bold.fntdata"/><Relationship Id="rId46" Type="http://schemas.openxmlformats.org/officeDocument/2006/relationships/font" Target="fonts/Font_2_IBM_Plex_Sans_Regular.fntdata"/><Relationship Id="rId47" Type="http://schemas.openxmlformats.org/officeDocument/2006/relationships/font" Target="fonts/Font_3_Source_Serif_Pro_Bold_Bold.fntdata"/><Relationship Id="rId48" Type="http://schemas.openxmlformats.org/officeDocument/2006/relationships/font" Target="fonts/Font_4_Arial_Bold_Italics_BoldItalic.fntdata"/><Relationship Id="rId49" Type="http://schemas.openxmlformats.org/officeDocument/2006/relationships/font" Target="fonts/Font_5_Arial_Bold_Bold.fntdata"/><Relationship Id="rId5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move 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9C19EBE-AA25-49B2-94BE-11657A19D06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dt" idx="37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Minha parte responde a segunda pergunta norteadora. Tese: escrever código nunca foi o trabalho todo. Se a IA barateia essa parte, o resto ganha peso. Uso os três complementos que o grupo ainda não tinha usado.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5"/>
          <p:cNvSpPr>
            <a:spLocks noGrp="1"/>
          </p:cNvSpPr>
          <p:nvPr>
            <p:ph type="ftr" idx="38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PlaceHolder 6"/>
          <p:cNvSpPr>
            <a:spLocks noGrp="1"/>
          </p:cNvSpPr>
          <p:nvPr>
            <p:ph type="sldNum" idx="39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dt" idx="40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Karpathy cunhou o termo vibe coding em fevereiro de 2025: aceitar tudo sem ler, colar o erro, deixar o código crescer além da compreensão. Ele mesmo diz que serve para projeto descartável de fim de semana. Poucas semanas depois, Simon Willison reclamou que o termo estava sendo usado para qualquer código feito com IA. Para ele, vibe coding é construir software sem revisar o que o LLM escreve. Se você revisa, testa e consegue explicar, isso é desenvolvimento de software comum, e o LLM é só uma ferramenta. Willison não condena o vibe coding: acha ótimo para protótipos e ferramentas pessoais de baixo risco, mas alerta para segredos, dados privados e serviços cobrados por uso.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5"/>
          <p:cNvSpPr>
            <a:spLocks noGrp="1"/>
          </p:cNvSpPr>
          <p:nvPr>
            <p:ph type="ftr" idx="41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PlaceHolder 6"/>
          <p:cNvSpPr>
            <a:spLocks noGrp="1"/>
          </p:cNvSpPr>
          <p:nvPr>
            <p:ph type="sldNum" idx="42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dt" idx="43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SWEBOK é o guia de referência da profissão, da IEEE Computer Society, e o SFIA mapeia cada área para competências profissionais. Ele divide a engenharia de software em 18 áreas. Agrupei aqui para ficar legível. Escrever código fica concentrado em Construção, e é ali que a IA atua com mais força. As outras dezessete são decisões: entender o problema, escolher a estrutura, garantir qualidade e segurança, manter funcionando. A IA pode apoiar, mas alguém precisa decidir e responder. E repare que Gerência de Configuração, a nossa disciplina, é uma das áreas oficiais.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5"/>
          <p:cNvSpPr>
            <a:spLocks noGrp="1"/>
          </p:cNvSpPr>
          <p:nvPr>
            <p:ph type="ftr" idx="44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PlaceHolder 6"/>
          <p:cNvSpPr>
            <a:spLocks noGrp="1"/>
          </p:cNvSpPr>
          <p:nvPr>
            <p:ph type="sldNum" idx="45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dt" idx="46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Thoughtworks fez dois encontros em 2026 sobre o futuro da profissão. Duas conclusões: o Technology Radar pede volta aos fundamentos contra o débito cognitivo, o mesmo ponto do Pedro. E o Harmel-Law diz que a IA não pensa sozinha em requisitos não funcionais; alguém precisa especificar antes. É o exemplo do PDV do Fernando: contingência e certificado só aparecem se alguém pedir.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5"/>
          <p:cNvSpPr>
            <a:spLocks noGrp="1"/>
          </p:cNvSpPr>
          <p:nvPr>
            <p:ph type="ftr" idx="47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PlaceHolder 6"/>
          <p:cNvSpPr>
            <a:spLocks noGrp="1"/>
          </p:cNvSpPr>
          <p:nvPr>
            <p:ph type="sldNum" idx="48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dt" idx="49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Juntando tudo: sobram quatro responsabilidades. Definir o problema, decidir, responder pelo resultado e controlar a evolução, que é a gerência de configuração. A regra do Willison depende dela: o commit é o ponto em que alguém assume o que a IA gerou. Exemplo prático: na implantação de um ERP, antes de cadastrar qualquer item foi preciso definir as regras de codificação. A IA gera mil cadastros rápido, mas não decide a regra certa nem percebe uma errada. Conclusão: a IA barateia o código; o resto da engenharia ganha peso.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5"/>
          <p:cNvSpPr>
            <a:spLocks noGrp="1"/>
          </p:cNvSpPr>
          <p:nvPr>
            <p:ph type="ftr" idx="50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PlaceHolder 6"/>
          <p:cNvSpPr>
            <a:spLocks noGrp="1"/>
          </p:cNvSpPr>
          <p:nvPr>
            <p:ph type="sldNum" idx="51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dt" idx="52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5"/>
          <p:cNvSpPr>
            <a:spLocks noGrp="1"/>
          </p:cNvSpPr>
          <p:nvPr>
            <p:ph type="ftr" idx="53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PlaceHolder 6"/>
          <p:cNvSpPr>
            <a:spLocks noGrp="1"/>
          </p:cNvSpPr>
          <p:nvPr>
            <p:ph type="sldNum" idx="54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dt" idx="55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Minha parte responde a segunda pergunta norteadora. Tese: escrever código nunca foi o trabalho todo. Se a IA barateia essa parte, o resto ganha peso. Uso os três complementos que o grupo ainda não tinha usado.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5"/>
          <p:cNvSpPr>
            <a:spLocks noGrp="1"/>
          </p:cNvSpPr>
          <p:nvPr>
            <p:ph type="ftr" idx="56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PlaceHolder 6"/>
          <p:cNvSpPr>
            <a:spLocks noGrp="1"/>
          </p:cNvSpPr>
          <p:nvPr>
            <p:ph type="sldNum" idx="57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AC130D-C4BB-4B29-AF15-456F740B56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EBDA47-933E-4972-B41A-15F8F00554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DB50F4-FC84-474A-ABD6-5EB79AEE76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608F63-D40C-44C9-A8C7-0CDE2FFC9A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E62310-8CD0-4AAA-8066-C5A1BFAB6F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70933A-B74F-4832-B306-7A656AA767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A2199F-ABE3-4387-87AF-71366A4392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930B49-AB45-4180-921F-B9F78F3190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2EEE08-AA57-4458-BFE0-40CE1CEE97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07CEF4-A9B8-4366-82AA-9DB5404FDE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3A9D95-9E6A-449E-957F-494052A69D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2"/>
          <p:cNvGrpSpPr/>
          <p:nvPr/>
        </p:nvGrpSpPr>
        <p:grpSpPr>
          <a:xfrm>
            <a:off x="623520" y="69120"/>
            <a:ext cx="17039880" cy="4125960"/>
            <a:chOff x="623520" y="69120"/>
            <a:chExt cx="17039880" cy="4125960"/>
          </a:xfrm>
        </p:grpSpPr>
        <p:sp>
          <p:nvSpPr>
            <p:cNvPr id="68" name="Freeform 3"/>
            <p:cNvSpPr/>
            <p:nvPr/>
          </p:nvSpPr>
          <p:spPr>
            <a:xfrm>
              <a:off x="623520" y="90720"/>
              <a:ext cx="17039880" cy="4104360"/>
            </a:xfrm>
            <a:custGeom>
              <a:avLst/>
              <a:gdLst>
                <a:gd name="textAreaLeft" fmla="*/ 0 w 17039880"/>
                <a:gd name="textAreaRight" fmla="*/ 17040240 w 17039880"/>
                <a:gd name="textAreaTop" fmla="*/ 0 h 4104360"/>
                <a:gd name="textAreaBottom" fmla="*/ 4104720 h 4104360"/>
              </a:gdLst>
              <a:ahLst/>
              <a:cxnLst/>
              <a:rect l="textAreaLeft" t="textAreaTop" r="textAreaRight" b="textAreaBottom"/>
              <a:pathLst>
                <a:path w="22720320" h="5472960">
                  <a:moveTo>
                    <a:pt x="0" y="0"/>
                  </a:moveTo>
                  <a:lnTo>
                    <a:pt x="22720320" y="0"/>
                  </a:lnTo>
                  <a:lnTo>
                    <a:pt x="22720320" y="5472960"/>
                  </a:lnTo>
                  <a:lnTo>
                    <a:pt x="0" y="547296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Box 4"/>
            <p:cNvSpPr/>
            <p:nvPr/>
          </p:nvSpPr>
          <p:spPr>
            <a:xfrm>
              <a:off x="623520" y="69120"/>
              <a:ext cx="17039880" cy="412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b">
              <a:noAutofit/>
            </a:bodyPr>
            <a:p>
              <a:pPr algn="ctr" defTabSz="914400">
                <a:lnSpc>
                  <a:spcPts val="12481"/>
                </a:lnSpc>
              </a:pP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Tema 2</a:t>
              </a:r>
              <a:endParaRPr lang="en-US" sz="10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TextBox 5"/>
          <p:cNvSpPr/>
          <p:nvPr/>
        </p:nvSpPr>
        <p:spPr>
          <a:xfrm>
            <a:off x="714960" y="5721840"/>
            <a:ext cx="16857000" cy="14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721"/>
              </a:lnSpc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Habilidades e formação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2"/>
          <p:cNvGrpSpPr/>
          <p:nvPr/>
        </p:nvGrpSpPr>
        <p:grpSpPr>
          <a:xfrm>
            <a:off x="623520" y="69120"/>
            <a:ext cx="17039880" cy="4125960"/>
            <a:chOff x="623520" y="69120"/>
            <a:chExt cx="17039880" cy="4125960"/>
          </a:xfrm>
        </p:grpSpPr>
        <p:sp>
          <p:nvSpPr>
            <p:cNvPr id="72" name="Freeform 3"/>
            <p:cNvSpPr/>
            <p:nvPr/>
          </p:nvSpPr>
          <p:spPr>
            <a:xfrm>
              <a:off x="623520" y="90720"/>
              <a:ext cx="17039880" cy="4104360"/>
            </a:xfrm>
            <a:custGeom>
              <a:avLst/>
              <a:gdLst>
                <a:gd name="textAreaLeft" fmla="*/ 0 w 17039880"/>
                <a:gd name="textAreaRight" fmla="*/ 17040240 w 17039880"/>
                <a:gd name="textAreaTop" fmla="*/ 0 h 4104360"/>
                <a:gd name="textAreaBottom" fmla="*/ 4104720 h 4104360"/>
              </a:gdLst>
              <a:ahLst/>
              <a:cxnLst/>
              <a:rect l="textAreaLeft" t="textAreaTop" r="textAreaRight" b="textAreaBottom"/>
              <a:pathLst>
                <a:path w="22720320" h="5472960">
                  <a:moveTo>
                    <a:pt x="0" y="0"/>
                  </a:moveTo>
                  <a:lnTo>
                    <a:pt x="22720320" y="0"/>
                  </a:lnTo>
                  <a:lnTo>
                    <a:pt x="22720320" y="5472960"/>
                  </a:lnTo>
                  <a:lnTo>
                    <a:pt x="0" y="547296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4"/>
            <p:cNvSpPr/>
            <p:nvPr/>
          </p:nvSpPr>
          <p:spPr>
            <a:xfrm>
              <a:off x="623520" y="69120"/>
              <a:ext cx="17039880" cy="412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2481"/>
                </a:lnSpc>
              </a:pP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Artigo </a:t>
              </a: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Âncora</a:t>
              </a:r>
              <a:endParaRPr lang="en-US" sz="10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12481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TextBox 5"/>
          <p:cNvSpPr/>
          <p:nvPr/>
        </p:nvSpPr>
        <p:spPr>
          <a:xfrm>
            <a:off x="714960" y="4944240"/>
            <a:ext cx="16857000" cy="31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721"/>
              </a:lnSpc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Proficiência em Programação: Desempenho Acadêmico e Habilidades de Escrita - Previsão de Desempenho em Ciência da Computação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2"/>
          <p:cNvGrpSpPr/>
          <p:nvPr/>
        </p:nvGrpSpPr>
        <p:grpSpPr>
          <a:xfrm>
            <a:off x="623520" y="224640"/>
            <a:ext cx="17039880" cy="4125960"/>
            <a:chOff x="623520" y="224640"/>
            <a:chExt cx="17039880" cy="4125960"/>
          </a:xfrm>
        </p:grpSpPr>
        <p:sp>
          <p:nvSpPr>
            <p:cNvPr id="76" name="Freeform 3"/>
            <p:cNvSpPr/>
            <p:nvPr/>
          </p:nvSpPr>
          <p:spPr>
            <a:xfrm>
              <a:off x="623520" y="246240"/>
              <a:ext cx="17039880" cy="4104360"/>
            </a:xfrm>
            <a:custGeom>
              <a:avLst/>
              <a:gdLst>
                <a:gd name="textAreaLeft" fmla="*/ 0 w 17039880"/>
                <a:gd name="textAreaRight" fmla="*/ 17040240 w 17039880"/>
                <a:gd name="textAreaTop" fmla="*/ 0 h 4104360"/>
                <a:gd name="textAreaBottom" fmla="*/ 4104720 h 4104360"/>
              </a:gdLst>
              <a:ahLst/>
              <a:cxnLst/>
              <a:rect l="textAreaLeft" t="textAreaTop" r="textAreaRight" b="textAreaBottom"/>
              <a:pathLst>
                <a:path w="22720320" h="5472960">
                  <a:moveTo>
                    <a:pt x="0" y="0"/>
                  </a:moveTo>
                  <a:lnTo>
                    <a:pt x="22720320" y="0"/>
                  </a:lnTo>
                  <a:lnTo>
                    <a:pt x="22720320" y="5472960"/>
                  </a:lnTo>
                  <a:lnTo>
                    <a:pt x="0" y="547296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4"/>
            <p:cNvSpPr/>
            <p:nvPr/>
          </p:nvSpPr>
          <p:spPr>
            <a:xfrm>
              <a:off x="623520" y="224640"/>
              <a:ext cx="17039880" cy="412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2481"/>
                </a:lnSpc>
              </a:pP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Histórico e trabalhos relacionados</a:t>
              </a:r>
              <a:endParaRPr lang="en-US" sz="10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TextBox 5"/>
          <p:cNvSpPr/>
          <p:nvPr/>
        </p:nvSpPr>
        <p:spPr>
          <a:xfrm>
            <a:off x="714960" y="5721840"/>
            <a:ext cx="16857000" cy="39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721"/>
              </a:lnSpc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Oferece um contexto adicional e descreve trabalhos relacionados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52960" lvl="1" indent="-726480" defTabSz="914400">
              <a:lnSpc>
                <a:spcPts val="6721"/>
              </a:lnSpc>
              <a:buClr>
                <a:srgbClr val="000000"/>
              </a:buClr>
              <a:buFont typeface="Arial"/>
              <a:buChar char="•"/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Cobol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52960" lvl="1" indent="-726480" defTabSz="914400">
              <a:lnSpc>
                <a:spcPts val="6721"/>
              </a:lnSpc>
              <a:buClr>
                <a:srgbClr val="000000"/>
              </a:buClr>
              <a:buFont typeface="Arial"/>
              <a:buChar char="•"/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DirectGPT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2"/>
          <p:cNvGrpSpPr/>
          <p:nvPr/>
        </p:nvGrpSpPr>
        <p:grpSpPr>
          <a:xfrm>
            <a:off x="623520" y="177840"/>
            <a:ext cx="17039880" cy="3457080"/>
            <a:chOff x="623520" y="177840"/>
            <a:chExt cx="17039880" cy="3457080"/>
          </a:xfrm>
        </p:grpSpPr>
        <p:sp>
          <p:nvSpPr>
            <p:cNvPr id="80" name="Freeform 3"/>
            <p:cNvSpPr/>
            <p:nvPr/>
          </p:nvSpPr>
          <p:spPr>
            <a:xfrm>
              <a:off x="623520" y="199440"/>
              <a:ext cx="17039880" cy="3435480"/>
            </a:xfrm>
            <a:custGeom>
              <a:avLst/>
              <a:gdLst>
                <a:gd name="textAreaLeft" fmla="*/ 0 w 17039880"/>
                <a:gd name="textAreaRight" fmla="*/ 17040240 w 17039880"/>
                <a:gd name="textAreaTop" fmla="*/ 0 h 3435480"/>
                <a:gd name="textAreaBottom" fmla="*/ 3435840 h 3435480"/>
              </a:gdLst>
              <a:ahLst/>
              <a:cxnLst/>
              <a:rect l="textAreaLeft" t="textAreaTop" r="textAreaRight" b="textAreaBottom"/>
              <a:pathLst>
                <a:path w="22720320" h="4581120">
                  <a:moveTo>
                    <a:pt x="0" y="0"/>
                  </a:moveTo>
                  <a:lnTo>
                    <a:pt x="22720320" y="0"/>
                  </a:lnTo>
                  <a:lnTo>
                    <a:pt x="22720320" y="4581120"/>
                  </a:lnTo>
                  <a:lnTo>
                    <a:pt x="0" y="458112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4"/>
            <p:cNvSpPr/>
            <p:nvPr/>
          </p:nvSpPr>
          <p:spPr>
            <a:xfrm>
              <a:off x="623520" y="177840"/>
              <a:ext cx="17039880" cy="345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2481"/>
                </a:lnSpc>
              </a:pP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Desenho da tarefa</a:t>
              </a:r>
              <a:endParaRPr lang="en-US" sz="10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TextBox 5"/>
          <p:cNvSpPr/>
          <p:nvPr/>
        </p:nvSpPr>
        <p:spPr>
          <a:xfrm>
            <a:off x="714960" y="4250880"/>
            <a:ext cx="16857000" cy="57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52960" lvl="1" indent="-726480" defTabSz="914400">
              <a:lnSpc>
                <a:spcPts val="6721"/>
              </a:lnSpc>
              <a:buClr>
                <a:srgbClr val="000000"/>
              </a:buClr>
              <a:buFont typeface="Arial"/>
              <a:buChar char="•"/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 Profissionais: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67360" lvl="2" indent="-789120" defTabSz="914400">
              <a:lnSpc>
                <a:spcPts val="6721"/>
              </a:lnSpc>
              <a:buClr>
                <a:srgbClr val="000000"/>
              </a:buClr>
              <a:buFont typeface="Arial"/>
              <a:buChar char="⚬"/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 tarefas com contexto;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67360" indent="-789120" defTabSz="914400">
              <a:lnSpc>
                <a:spcPts val="6721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52960" lvl="1" indent="-726480" defTabSz="914400">
              <a:lnSpc>
                <a:spcPts val="6721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Autores: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67360" lvl="2" indent="-789120" defTabSz="914400">
              <a:lnSpc>
                <a:spcPts val="6721"/>
              </a:lnSpc>
              <a:buClr>
                <a:srgbClr val="000000"/>
              </a:buClr>
              <a:buFont typeface="Arial"/>
              <a:buChar char="⚬"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 tarefa sem contexto;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2"/>
          <p:cNvGrpSpPr/>
          <p:nvPr/>
        </p:nvGrpSpPr>
        <p:grpSpPr>
          <a:xfrm>
            <a:off x="623520" y="177840"/>
            <a:ext cx="17039880" cy="3457080"/>
            <a:chOff x="623520" y="177840"/>
            <a:chExt cx="17039880" cy="3457080"/>
          </a:xfrm>
        </p:grpSpPr>
        <p:sp>
          <p:nvSpPr>
            <p:cNvPr id="84" name="Freeform 3"/>
            <p:cNvSpPr/>
            <p:nvPr/>
          </p:nvSpPr>
          <p:spPr>
            <a:xfrm>
              <a:off x="623520" y="199440"/>
              <a:ext cx="17039880" cy="3435480"/>
            </a:xfrm>
            <a:custGeom>
              <a:avLst/>
              <a:gdLst>
                <a:gd name="textAreaLeft" fmla="*/ 0 w 17039880"/>
                <a:gd name="textAreaRight" fmla="*/ 17040240 w 17039880"/>
                <a:gd name="textAreaTop" fmla="*/ 0 h 3435480"/>
                <a:gd name="textAreaBottom" fmla="*/ 3435840 h 3435480"/>
              </a:gdLst>
              <a:ahLst/>
              <a:cxnLst/>
              <a:rect l="textAreaLeft" t="textAreaTop" r="textAreaRight" b="textAreaBottom"/>
              <a:pathLst>
                <a:path w="22720320" h="4581120">
                  <a:moveTo>
                    <a:pt x="0" y="0"/>
                  </a:moveTo>
                  <a:lnTo>
                    <a:pt x="22720320" y="0"/>
                  </a:lnTo>
                  <a:lnTo>
                    <a:pt x="22720320" y="4581120"/>
                  </a:lnTo>
                  <a:lnTo>
                    <a:pt x="0" y="458112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4"/>
            <p:cNvSpPr/>
            <p:nvPr/>
          </p:nvSpPr>
          <p:spPr>
            <a:xfrm>
              <a:off x="623520" y="177840"/>
              <a:ext cx="17039880" cy="345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2481"/>
                </a:lnSpc>
              </a:pP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Desenho da tarefa</a:t>
              </a:r>
              <a:endParaRPr lang="en-US" sz="10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TextBox 5"/>
          <p:cNvSpPr/>
          <p:nvPr/>
        </p:nvSpPr>
        <p:spPr>
          <a:xfrm>
            <a:off x="714960" y="4327200"/>
            <a:ext cx="16857000" cy="56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50280" lvl="1" indent="-624960" defTabSz="914400">
              <a:lnSpc>
                <a:spcPts val="5139"/>
              </a:lnSpc>
              <a:buClr>
                <a:srgbClr val="000000"/>
              </a:buClr>
              <a:buFont typeface="Arial"/>
              <a:buChar char="•"/>
            </a:pPr>
            <a:r>
              <a:rPr lang="en-US" sz="476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Critérios:</a:t>
            </a:r>
            <a:endParaRPr lang="en-US" sz="4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4680" lvl="2" indent="-721440" defTabSz="914400">
              <a:lnSpc>
                <a:spcPts val="5139"/>
              </a:lnSpc>
              <a:buClr>
                <a:srgbClr val="000000"/>
              </a:buClr>
              <a:buFont typeface="Arial"/>
              <a:buChar char="⚬"/>
            </a:pPr>
            <a:r>
              <a:rPr lang="en-US" sz="476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Interdisciplinaridade;</a:t>
            </a:r>
            <a:endParaRPr lang="en-US" sz="4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4680" lvl="2" indent="-721440" defTabSz="914400">
              <a:lnSpc>
                <a:spcPts val="5139"/>
              </a:lnSpc>
              <a:buClr>
                <a:srgbClr val="000000"/>
              </a:buClr>
              <a:buFont typeface="Arial"/>
              <a:buChar char="⚬"/>
            </a:pPr>
            <a:r>
              <a:rPr lang="en-US" sz="476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Caso de uso no mundo real;</a:t>
            </a:r>
            <a:endParaRPr lang="en-US" sz="4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4680" lvl="2" indent="-721440" defTabSz="914400">
              <a:lnSpc>
                <a:spcPts val="5139"/>
              </a:lnSpc>
              <a:buClr>
                <a:srgbClr val="000000"/>
              </a:buClr>
              <a:buFont typeface="Arial"/>
              <a:buChar char="⚬"/>
            </a:pPr>
            <a:r>
              <a:rPr lang="en-US" sz="476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Implementação com foco na interface gráfica;</a:t>
            </a:r>
            <a:endParaRPr lang="en-US" sz="4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4680" lvl="2" indent="-721440" defTabSz="914400">
              <a:lnSpc>
                <a:spcPts val="5139"/>
              </a:lnSpc>
              <a:buClr>
                <a:srgbClr val="000000"/>
              </a:buClr>
              <a:buFont typeface="Arial"/>
              <a:buChar char="⚬"/>
            </a:pPr>
            <a:r>
              <a:rPr lang="en-US" sz="476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Complexidade não trivial;</a:t>
            </a:r>
            <a:endParaRPr lang="en-US" sz="4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4680" lvl="2" indent="-721440" defTabSz="914400">
              <a:lnSpc>
                <a:spcPts val="5139"/>
              </a:lnSpc>
              <a:buClr>
                <a:srgbClr val="000000"/>
              </a:buClr>
              <a:buFont typeface="Arial"/>
              <a:buChar char="⚬"/>
            </a:pPr>
            <a:r>
              <a:rPr lang="en-US" sz="476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Viável em termos de tempo;</a:t>
            </a:r>
            <a:endParaRPr lang="en-US" sz="4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4680" lvl="2" indent="-721440" defTabSz="914400">
              <a:lnSpc>
                <a:spcPts val="5139"/>
              </a:lnSpc>
              <a:buClr>
                <a:srgbClr val="000000"/>
              </a:buClr>
              <a:buFont typeface="Arial"/>
              <a:buChar char="⚬"/>
            </a:pPr>
            <a:r>
              <a:rPr lang="en-US" sz="476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Especificação clara;</a:t>
            </a:r>
            <a:endParaRPr lang="en-US" sz="4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4680" lvl="2" indent="-721440" defTabSz="914400">
              <a:lnSpc>
                <a:spcPts val="5139"/>
              </a:lnSpc>
              <a:buClr>
                <a:srgbClr val="000000"/>
              </a:buClr>
              <a:buFont typeface="Arial"/>
              <a:buChar char="⚬"/>
            </a:pPr>
            <a:r>
              <a:rPr lang="en-US" sz="476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Equidade cultural;</a:t>
            </a:r>
            <a:endParaRPr lang="en-US" sz="4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2"/>
          <p:cNvGrpSpPr/>
          <p:nvPr/>
        </p:nvGrpSpPr>
        <p:grpSpPr>
          <a:xfrm>
            <a:off x="623520" y="170640"/>
            <a:ext cx="17039880" cy="3560760"/>
            <a:chOff x="623520" y="170640"/>
            <a:chExt cx="17039880" cy="3560760"/>
          </a:xfrm>
        </p:grpSpPr>
        <p:sp>
          <p:nvSpPr>
            <p:cNvPr id="88" name="Freeform 3"/>
            <p:cNvSpPr/>
            <p:nvPr/>
          </p:nvSpPr>
          <p:spPr>
            <a:xfrm>
              <a:off x="623520" y="192240"/>
              <a:ext cx="17039880" cy="3539160"/>
            </a:xfrm>
            <a:custGeom>
              <a:avLst/>
              <a:gdLst>
                <a:gd name="textAreaLeft" fmla="*/ 0 w 17039880"/>
                <a:gd name="textAreaRight" fmla="*/ 17040240 w 17039880"/>
                <a:gd name="textAreaTop" fmla="*/ 0 h 3539160"/>
                <a:gd name="textAreaBottom" fmla="*/ 3539520 h 3539160"/>
              </a:gdLst>
              <a:ahLst/>
              <a:cxnLst/>
              <a:rect l="textAreaLeft" t="textAreaTop" r="textAreaRight" b="textAreaBottom"/>
              <a:pathLst>
                <a:path w="22720320" h="4719360">
                  <a:moveTo>
                    <a:pt x="0" y="0"/>
                  </a:moveTo>
                  <a:lnTo>
                    <a:pt x="22720320" y="0"/>
                  </a:lnTo>
                  <a:lnTo>
                    <a:pt x="22720320" y="4719360"/>
                  </a:lnTo>
                  <a:lnTo>
                    <a:pt x="0" y="471936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TextBox 4"/>
            <p:cNvSpPr/>
            <p:nvPr/>
          </p:nvSpPr>
          <p:spPr>
            <a:xfrm>
              <a:off x="623520" y="170640"/>
              <a:ext cx="17039880" cy="356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2481"/>
                </a:lnSpc>
              </a:pP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Instrumentos de pesquisa</a:t>
              </a:r>
              <a:endParaRPr lang="en-US" sz="10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90" name="Table 5"/>
          <p:cNvGraphicFramePr/>
          <p:nvPr/>
        </p:nvGraphicFramePr>
        <p:xfrm>
          <a:off x="0" y="4382640"/>
          <a:ext cx="18287640" cy="5017680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  <a:gridCol w="4572000"/>
                <a:gridCol w="4572000"/>
              </a:tblGrid>
              <a:tr h="736560"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 Bold"/>
                          <a:ea typeface="Arial Bold"/>
                        </a:rPr>
                        <a:t>Instrumento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 Bold"/>
                          <a:ea typeface="Arial Bold"/>
                        </a:rPr>
                        <a:t>O que mede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 Bold"/>
                          <a:ea typeface="Arial Bold"/>
                        </a:rPr>
                        <a:t>Papel na análise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 Bold"/>
                          <a:ea typeface="Arial Bold"/>
                        </a:rPr>
                        <a:t>Tempo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736560"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Teste de escrita (redação)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Comunicação escrita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Preditor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20 min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736560"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SCS1 (12 questões)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Conhecimento de computação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Preditor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25 min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736560"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ICAR16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Raciocínio geral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Variável de controle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12 min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736560"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Tarefas de vibe coding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Desempenho em vibe coding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 que se quer prever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45 min ( 3 x 15 min )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736560"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Questionário inicial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Perfil e uso de LLM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Descrição da amostra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defTabSz="914400">
                        <a:lnSpc>
                          <a:spcPts val="3359"/>
                        </a:lnSpc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 min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2"/>
          <p:cNvGrpSpPr/>
          <p:nvPr/>
        </p:nvGrpSpPr>
        <p:grpSpPr>
          <a:xfrm>
            <a:off x="623520" y="255600"/>
            <a:ext cx="17039880" cy="4125960"/>
            <a:chOff x="623520" y="255600"/>
            <a:chExt cx="17039880" cy="4125960"/>
          </a:xfrm>
        </p:grpSpPr>
        <p:sp>
          <p:nvSpPr>
            <p:cNvPr id="92" name="Freeform 3"/>
            <p:cNvSpPr/>
            <p:nvPr/>
          </p:nvSpPr>
          <p:spPr>
            <a:xfrm>
              <a:off x="623520" y="277200"/>
              <a:ext cx="17039880" cy="4104360"/>
            </a:xfrm>
            <a:custGeom>
              <a:avLst/>
              <a:gdLst>
                <a:gd name="textAreaLeft" fmla="*/ 0 w 17039880"/>
                <a:gd name="textAreaRight" fmla="*/ 17040240 w 17039880"/>
                <a:gd name="textAreaTop" fmla="*/ 0 h 4104360"/>
                <a:gd name="textAreaBottom" fmla="*/ 4104720 h 4104360"/>
              </a:gdLst>
              <a:ahLst/>
              <a:cxnLst/>
              <a:rect l="textAreaLeft" t="textAreaTop" r="textAreaRight" b="textAreaBottom"/>
              <a:pathLst>
                <a:path w="22720320" h="5472960">
                  <a:moveTo>
                    <a:pt x="0" y="0"/>
                  </a:moveTo>
                  <a:lnTo>
                    <a:pt x="22720320" y="0"/>
                  </a:lnTo>
                  <a:lnTo>
                    <a:pt x="22720320" y="5472960"/>
                  </a:lnTo>
                  <a:lnTo>
                    <a:pt x="0" y="547296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TextBox 4"/>
            <p:cNvSpPr/>
            <p:nvPr/>
          </p:nvSpPr>
          <p:spPr>
            <a:xfrm>
              <a:off x="623520" y="255600"/>
              <a:ext cx="17039880" cy="412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2481"/>
                </a:lnSpc>
              </a:pP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Plataforma de Codificação Vibe</a:t>
              </a:r>
              <a:endParaRPr lang="en-US" sz="10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TextBox 5"/>
          <p:cNvSpPr/>
          <p:nvPr/>
        </p:nvSpPr>
        <p:spPr>
          <a:xfrm>
            <a:off x="714960" y="6712200"/>
            <a:ext cx="16857000" cy="13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569"/>
              </a:lnSpc>
            </a:pPr>
            <a:r>
              <a:rPr lang="en-US" sz="476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Criado plataforma própria utilizando Claud Sonnet 4 da Anthropic</a:t>
            </a:r>
            <a:endParaRPr lang="en-US" sz="4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2"/>
          <p:cNvGrpSpPr/>
          <p:nvPr/>
        </p:nvGrpSpPr>
        <p:grpSpPr>
          <a:xfrm>
            <a:off x="0" y="0"/>
            <a:ext cx="18286920" cy="10027080"/>
            <a:chOff x="0" y="0"/>
            <a:chExt cx="18286920" cy="10027080"/>
          </a:xfrm>
        </p:grpSpPr>
        <p:sp>
          <p:nvSpPr>
            <p:cNvPr id="96" name="Freeform 3"/>
            <p:cNvSpPr/>
            <p:nvPr/>
          </p:nvSpPr>
          <p:spPr>
            <a:xfrm>
              <a:off x="0" y="0"/>
              <a:ext cx="18286920" cy="10027080"/>
            </a:xfrm>
            <a:custGeom>
              <a:avLst/>
              <a:gdLst>
                <a:gd name="textAreaLeft" fmla="*/ 0 w 18286920"/>
                <a:gd name="textAreaRight" fmla="*/ 18287280 w 18286920"/>
                <a:gd name="textAreaTop" fmla="*/ 0 h 10027080"/>
                <a:gd name="textAreaBottom" fmla="*/ 10027440 h 10027080"/>
              </a:gdLst>
              <a:ahLst/>
              <a:cxnLst/>
              <a:rect l="textAreaLeft" t="textAreaTop" r="textAreaRight" b="textAreaBottom"/>
              <a:pathLst>
                <a:path w="24382985" h="13369925">
                  <a:moveTo>
                    <a:pt x="0" y="0"/>
                  </a:moveTo>
                  <a:lnTo>
                    <a:pt x="24382985" y="0"/>
                  </a:lnTo>
                  <a:lnTo>
                    <a:pt x="24382985" y="13369925"/>
                  </a:lnTo>
                  <a:lnTo>
                    <a:pt x="0" y="1336992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2"/>
          <p:cNvGrpSpPr/>
          <p:nvPr/>
        </p:nvGrpSpPr>
        <p:grpSpPr>
          <a:xfrm>
            <a:off x="623520" y="177840"/>
            <a:ext cx="17039880" cy="3176280"/>
            <a:chOff x="623520" y="177840"/>
            <a:chExt cx="17039880" cy="3176280"/>
          </a:xfrm>
        </p:grpSpPr>
        <p:sp>
          <p:nvSpPr>
            <p:cNvPr id="98" name="Freeform 3"/>
            <p:cNvSpPr/>
            <p:nvPr/>
          </p:nvSpPr>
          <p:spPr>
            <a:xfrm>
              <a:off x="623520" y="199440"/>
              <a:ext cx="17039880" cy="3154680"/>
            </a:xfrm>
            <a:custGeom>
              <a:avLst/>
              <a:gdLst>
                <a:gd name="textAreaLeft" fmla="*/ 0 w 17039880"/>
                <a:gd name="textAreaRight" fmla="*/ 17040240 w 17039880"/>
                <a:gd name="textAreaTop" fmla="*/ 0 h 3154680"/>
                <a:gd name="textAreaBottom" fmla="*/ 3155040 h 3154680"/>
              </a:gdLst>
              <a:ahLst/>
              <a:cxnLst/>
              <a:rect l="textAreaLeft" t="textAreaTop" r="textAreaRight" b="textAreaBottom"/>
              <a:pathLst>
                <a:path w="22720320" h="4206720">
                  <a:moveTo>
                    <a:pt x="0" y="0"/>
                  </a:moveTo>
                  <a:lnTo>
                    <a:pt x="22720320" y="0"/>
                  </a:lnTo>
                  <a:lnTo>
                    <a:pt x="22720320" y="4206720"/>
                  </a:lnTo>
                  <a:lnTo>
                    <a:pt x="0" y="420672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TextBox 4"/>
            <p:cNvSpPr/>
            <p:nvPr/>
          </p:nvSpPr>
          <p:spPr>
            <a:xfrm>
              <a:off x="623520" y="177840"/>
              <a:ext cx="17039880" cy="317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2481"/>
                </a:lnSpc>
              </a:pP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Método</a:t>
              </a:r>
              <a:endParaRPr lang="en-US" sz="10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" name="TextBox 5"/>
          <p:cNvSpPr/>
          <p:nvPr/>
        </p:nvSpPr>
        <p:spPr>
          <a:xfrm>
            <a:off x="714960" y="3783600"/>
            <a:ext cx="16857000" cy="61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71520" lvl="1" indent="-635760" defTabSz="914400">
              <a:lnSpc>
                <a:spcPts val="4397"/>
              </a:lnSpc>
              <a:buClr>
                <a:srgbClr val="000000"/>
              </a:buClr>
              <a:buFont typeface="Arial"/>
              <a:buChar char="•"/>
            </a:pPr>
            <a:r>
              <a:rPr lang="en-US" sz="45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RQ1: A escrita se relaciona mais com o desempenho na tarefa descontextualizada do que nas duas tarefas com contexto ?</a:t>
            </a:r>
            <a:endParaRPr lang="en-US" sz="4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1520" indent="-635760" defTabSz="914400">
              <a:lnSpc>
                <a:spcPts val="4397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1520" lvl="1" indent="-635760" defTabSz="914400">
              <a:lnSpc>
                <a:spcPts val="4397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45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RQ2: A escrita tem correlação positiva com o desempenho em vibe coding? Essa correlação se mantém quando se controla o raciocínio geral?</a:t>
            </a:r>
            <a:endParaRPr lang="en-US" sz="4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1520" indent="-635760" defTabSz="914400">
              <a:lnSpc>
                <a:spcPts val="4397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1520" lvl="1" indent="-635760" defTabSz="914400">
              <a:lnSpc>
                <a:spcPts val="4397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45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RQ3: Na previsão do desempenho, como a escrita se compara à computação?</a:t>
            </a:r>
            <a:endParaRPr lang="en-US" sz="4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2"/>
          <p:cNvGrpSpPr/>
          <p:nvPr/>
        </p:nvGrpSpPr>
        <p:grpSpPr>
          <a:xfrm>
            <a:off x="623520" y="162000"/>
            <a:ext cx="17039880" cy="3324600"/>
            <a:chOff x="623520" y="162000"/>
            <a:chExt cx="17039880" cy="3324600"/>
          </a:xfrm>
        </p:grpSpPr>
        <p:sp>
          <p:nvSpPr>
            <p:cNvPr id="102" name="Freeform 3"/>
            <p:cNvSpPr/>
            <p:nvPr/>
          </p:nvSpPr>
          <p:spPr>
            <a:xfrm>
              <a:off x="623520" y="183600"/>
              <a:ext cx="17039880" cy="3303000"/>
            </a:xfrm>
            <a:custGeom>
              <a:avLst/>
              <a:gdLst>
                <a:gd name="textAreaLeft" fmla="*/ 0 w 17039880"/>
                <a:gd name="textAreaRight" fmla="*/ 17040240 w 17039880"/>
                <a:gd name="textAreaTop" fmla="*/ 0 h 3303000"/>
                <a:gd name="textAreaBottom" fmla="*/ 3303360 h 3303000"/>
              </a:gdLst>
              <a:ahLst/>
              <a:cxnLst/>
              <a:rect l="textAreaLeft" t="textAreaTop" r="textAreaRight" b="textAreaBottom"/>
              <a:pathLst>
                <a:path w="22720320" h="4404480">
                  <a:moveTo>
                    <a:pt x="0" y="0"/>
                  </a:moveTo>
                  <a:lnTo>
                    <a:pt x="22720320" y="0"/>
                  </a:lnTo>
                  <a:lnTo>
                    <a:pt x="22720320" y="4404480"/>
                  </a:lnTo>
                  <a:lnTo>
                    <a:pt x="0" y="440448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TextBox 4"/>
            <p:cNvSpPr/>
            <p:nvPr/>
          </p:nvSpPr>
          <p:spPr>
            <a:xfrm>
              <a:off x="623520" y="162000"/>
              <a:ext cx="17039880" cy="3324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2481"/>
                </a:lnSpc>
              </a:pP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Resultados</a:t>
              </a:r>
              <a:endParaRPr lang="en-US" sz="10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" name="TextBox 5"/>
          <p:cNvSpPr/>
          <p:nvPr/>
        </p:nvSpPr>
        <p:spPr>
          <a:xfrm>
            <a:off x="91440" y="3665520"/>
            <a:ext cx="18104040" cy="65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71520" lvl="1" indent="-635760" defTabSz="914400">
              <a:lnSpc>
                <a:spcPts val="4397"/>
              </a:lnSpc>
              <a:buClr>
                <a:srgbClr val="000000"/>
              </a:buClr>
              <a:buFont typeface="Arial"/>
              <a:buChar char="•"/>
            </a:pPr>
            <a:r>
              <a:rPr lang="en-US" sz="458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RQ1: A escrita se relaciona mais com o desempenho na tarefa descontextualizada do que nas duas tarefas com contexto ?</a:t>
            </a:r>
            <a:endParaRPr lang="en-US" sz="4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1520" lvl="1" indent="-635760" defTabSz="914400">
              <a:lnSpc>
                <a:spcPts val="4397"/>
              </a:lnSpc>
              <a:buClr>
                <a:srgbClr val="000000"/>
              </a:buClr>
              <a:buFont typeface="Arial"/>
              <a:buChar char="•"/>
            </a:pPr>
            <a:r>
              <a:rPr lang="en-US" sz="45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Não, os autores não encontraram evidência de que a escrita pese mais na tarefa sem contexto.</a:t>
            </a:r>
            <a:endParaRPr lang="en-US" sz="4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1520" indent="-635760" defTabSz="914400">
              <a:lnSpc>
                <a:spcPts val="4397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1520" lvl="1" indent="-635760" defTabSz="914400">
              <a:lnSpc>
                <a:spcPts val="4397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458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RQ2a: A escrita tem correlação positiva com o desempenho em vibe coding? Essa correlação se mantém quando se controla o raciocínio geral?</a:t>
            </a:r>
            <a:endParaRPr lang="en-US" sz="4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1520" lvl="1" indent="-635760" defTabSz="914400">
              <a:lnSpc>
                <a:spcPts val="4397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45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Sim, mas a associação é pequena e deixa de ser significativa quando se desconta o raciocínio geral.</a:t>
            </a:r>
            <a:endParaRPr lang="en-US" sz="4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2"/>
          <p:cNvGrpSpPr/>
          <p:nvPr/>
        </p:nvGrpSpPr>
        <p:grpSpPr>
          <a:xfrm>
            <a:off x="623520" y="162000"/>
            <a:ext cx="17039880" cy="3324600"/>
            <a:chOff x="623520" y="162000"/>
            <a:chExt cx="17039880" cy="3324600"/>
          </a:xfrm>
        </p:grpSpPr>
        <p:sp>
          <p:nvSpPr>
            <p:cNvPr id="106" name="Freeform 3"/>
            <p:cNvSpPr/>
            <p:nvPr/>
          </p:nvSpPr>
          <p:spPr>
            <a:xfrm>
              <a:off x="623520" y="183600"/>
              <a:ext cx="17039880" cy="3303000"/>
            </a:xfrm>
            <a:custGeom>
              <a:avLst/>
              <a:gdLst>
                <a:gd name="textAreaLeft" fmla="*/ 0 w 17039880"/>
                <a:gd name="textAreaRight" fmla="*/ 17040240 w 17039880"/>
                <a:gd name="textAreaTop" fmla="*/ 0 h 3303000"/>
                <a:gd name="textAreaBottom" fmla="*/ 3303360 h 3303000"/>
              </a:gdLst>
              <a:ahLst/>
              <a:cxnLst/>
              <a:rect l="textAreaLeft" t="textAreaTop" r="textAreaRight" b="textAreaBottom"/>
              <a:pathLst>
                <a:path w="22720320" h="4404480">
                  <a:moveTo>
                    <a:pt x="0" y="0"/>
                  </a:moveTo>
                  <a:lnTo>
                    <a:pt x="22720320" y="0"/>
                  </a:lnTo>
                  <a:lnTo>
                    <a:pt x="22720320" y="4404480"/>
                  </a:lnTo>
                  <a:lnTo>
                    <a:pt x="0" y="440448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TextBox 4"/>
            <p:cNvSpPr/>
            <p:nvPr/>
          </p:nvSpPr>
          <p:spPr>
            <a:xfrm>
              <a:off x="623520" y="162000"/>
              <a:ext cx="17039880" cy="3324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2481"/>
                </a:lnSpc>
              </a:pP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Resultados</a:t>
              </a:r>
              <a:endParaRPr lang="en-US" sz="10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8" name="TextBox 5"/>
          <p:cNvSpPr/>
          <p:nvPr/>
        </p:nvSpPr>
        <p:spPr>
          <a:xfrm>
            <a:off x="91440" y="4626000"/>
            <a:ext cx="18104040" cy="52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71520" lvl="1" indent="-635760" defTabSz="914400">
              <a:lnSpc>
                <a:spcPts val="4397"/>
              </a:lnSpc>
              <a:buClr>
                <a:srgbClr val="000000"/>
              </a:buClr>
              <a:buFont typeface="Arial"/>
              <a:buChar char="•"/>
            </a:pPr>
            <a:r>
              <a:rPr lang="en-US" sz="458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RQ3: Na previsão do desempenho, como a escrita se compara à computação?</a:t>
            </a:r>
            <a:endParaRPr lang="en-US" sz="4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1520" lvl="1" indent="-635760" defTabSz="914400">
              <a:lnSpc>
                <a:spcPts val="4397"/>
              </a:lnSpc>
              <a:buClr>
                <a:srgbClr val="000000"/>
              </a:buClr>
              <a:buFont typeface="Arial"/>
              <a:buChar char="•"/>
            </a:pPr>
            <a:r>
              <a:rPr lang="en-US" sz="45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computação contribui cerca do dobro da contribuição própria da escrita, mas as duas contribuem de forma independente.</a:t>
            </a:r>
            <a:endParaRPr lang="en-US" sz="4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2"/>
          <p:cNvGrpSpPr/>
          <p:nvPr/>
        </p:nvGrpSpPr>
        <p:grpSpPr>
          <a:xfrm>
            <a:off x="623520" y="162000"/>
            <a:ext cx="17039880" cy="4125960"/>
            <a:chOff x="623520" y="162000"/>
            <a:chExt cx="17039880" cy="4125960"/>
          </a:xfrm>
        </p:grpSpPr>
        <p:sp>
          <p:nvSpPr>
            <p:cNvPr id="110" name="Freeform 3"/>
            <p:cNvSpPr/>
            <p:nvPr/>
          </p:nvSpPr>
          <p:spPr>
            <a:xfrm>
              <a:off x="623520" y="183600"/>
              <a:ext cx="17039880" cy="4104360"/>
            </a:xfrm>
            <a:custGeom>
              <a:avLst/>
              <a:gdLst>
                <a:gd name="textAreaLeft" fmla="*/ 0 w 17039880"/>
                <a:gd name="textAreaRight" fmla="*/ 17040240 w 17039880"/>
                <a:gd name="textAreaTop" fmla="*/ 0 h 4104360"/>
                <a:gd name="textAreaBottom" fmla="*/ 4104720 h 4104360"/>
              </a:gdLst>
              <a:ahLst/>
              <a:cxnLst/>
              <a:rect l="textAreaLeft" t="textAreaTop" r="textAreaRight" b="textAreaBottom"/>
              <a:pathLst>
                <a:path w="22720320" h="5472960">
                  <a:moveTo>
                    <a:pt x="0" y="0"/>
                  </a:moveTo>
                  <a:lnTo>
                    <a:pt x="22720320" y="0"/>
                  </a:lnTo>
                  <a:lnTo>
                    <a:pt x="22720320" y="5472960"/>
                  </a:lnTo>
                  <a:lnTo>
                    <a:pt x="0" y="547296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TextBox 4"/>
            <p:cNvSpPr/>
            <p:nvPr/>
          </p:nvSpPr>
          <p:spPr>
            <a:xfrm>
              <a:off x="623520" y="162000"/>
              <a:ext cx="17039880" cy="412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2481"/>
                </a:lnSpc>
              </a:pP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Análise Exploratória</a:t>
              </a:r>
              <a:endParaRPr lang="en-US" sz="10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" name="TextBox 5"/>
          <p:cNvSpPr/>
          <p:nvPr/>
        </p:nvSpPr>
        <p:spPr>
          <a:xfrm>
            <a:off x="91440" y="4154760"/>
            <a:ext cx="18104040" cy="58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378080" lvl="1" indent="-689040" defTabSz="914400">
              <a:lnSpc>
                <a:spcPts val="5593"/>
              </a:lnSpc>
              <a:buClr>
                <a:srgbClr val="000000"/>
              </a:buClr>
              <a:buFont typeface="Arial"/>
              <a:buChar char="•"/>
            </a:pPr>
            <a:r>
              <a:rPr lang="en-US" sz="51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hipótese: Quem sabe mais computação estaria mais acostumado a trabalhar com LLMs ?</a:t>
            </a:r>
            <a:endParaRPr lang="en-US" sz="5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8080" lvl="1" indent="-689040" defTabSz="914400">
              <a:lnSpc>
                <a:spcPts val="5593"/>
              </a:lnSpc>
              <a:buClr>
                <a:srgbClr val="000000"/>
              </a:buClr>
              <a:buFont typeface="Arial"/>
              <a:buChar char="•"/>
            </a:pPr>
            <a:r>
              <a:rPr lang="en-US" sz="51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Como testaram: Correlacionaram a frequência de uso de LLM, que cada participante informou no questionário inicial numa escala de 1 a 5, com as outras medidas.</a:t>
            </a:r>
            <a:endParaRPr lang="en-US" sz="5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8080" lvl="1" indent="-689040" defTabSz="914400">
              <a:lnSpc>
                <a:spcPts val="5593"/>
              </a:lnSpc>
              <a:buClr>
                <a:srgbClr val="000000"/>
              </a:buClr>
              <a:buFont typeface="Arial"/>
              <a:buChar char="•"/>
            </a:pPr>
            <a:r>
              <a:rPr lang="en-US" sz="51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Resultado: Quanto maior o uso declarado de LLM, menores foram o desempenho e a nota da redação. Com a computação, não houve relação.</a:t>
            </a:r>
            <a:endParaRPr lang="en-US" sz="5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2"/>
          <p:cNvGrpSpPr/>
          <p:nvPr/>
        </p:nvGrpSpPr>
        <p:grpSpPr>
          <a:xfrm>
            <a:off x="623520" y="162000"/>
            <a:ext cx="17039880" cy="4125960"/>
            <a:chOff x="623520" y="162000"/>
            <a:chExt cx="17039880" cy="4125960"/>
          </a:xfrm>
        </p:grpSpPr>
        <p:sp>
          <p:nvSpPr>
            <p:cNvPr id="114" name="Freeform 3"/>
            <p:cNvSpPr/>
            <p:nvPr/>
          </p:nvSpPr>
          <p:spPr>
            <a:xfrm>
              <a:off x="623520" y="183600"/>
              <a:ext cx="17039880" cy="4104360"/>
            </a:xfrm>
            <a:custGeom>
              <a:avLst/>
              <a:gdLst>
                <a:gd name="textAreaLeft" fmla="*/ 0 w 17039880"/>
                <a:gd name="textAreaRight" fmla="*/ 17040240 w 17039880"/>
                <a:gd name="textAreaTop" fmla="*/ 0 h 4104360"/>
                <a:gd name="textAreaBottom" fmla="*/ 4104720 h 4104360"/>
              </a:gdLst>
              <a:ahLst/>
              <a:cxnLst/>
              <a:rect l="textAreaLeft" t="textAreaTop" r="textAreaRight" b="textAreaBottom"/>
              <a:pathLst>
                <a:path w="22720320" h="5472960">
                  <a:moveTo>
                    <a:pt x="0" y="0"/>
                  </a:moveTo>
                  <a:lnTo>
                    <a:pt x="22720320" y="0"/>
                  </a:lnTo>
                  <a:lnTo>
                    <a:pt x="22720320" y="5472960"/>
                  </a:lnTo>
                  <a:lnTo>
                    <a:pt x="0" y="547296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TextBox 4"/>
            <p:cNvSpPr/>
            <p:nvPr/>
          </p:nvSpPr>
          <p:spPr>
            <a:xfrm>
              <a:off x="623520" y="162000"/>
              <a:ext cx="17039880" cy="412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2481"/>
                </a:lnSpc>
              </a:pPr>
              <a:r>
                <a:rPr lang="en-US" sz="10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Conclusão</a:t>
              </a:r>
              <a:endParaRPr lang="en-US" sz="10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" name="TextBox 5"/>
          <p:cNvSpPr/>
          <p:nvPr/>
        </p:nvSpPr>
        <p:spPr>
          <a:xfrm>
            <a:off x="91440" y="4088160"/>
            <a:ext cx="18104040" cy="59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52960" lvl="1" indent="-726480" defTabSz="914400">
              <a:lnSpc>
                <a:spcPts val="6721"/>
              </a:lnSpc>
              <a:buClr>
                <a:srgbClr val="000000"/>
              </a:buClr>
              <a:buFont typeface="Arial"/>
              <a:buChar char="•"/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Computação e escrita tiveram correlação positiva e significativa com o desempenho em vibe coding. Só a da computação se manteve depois de controlado o raciocínio geral.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52960" lvl="1" indent="-726480" defTabSz="914400">
              <a:lnSpc>
                <a:spcPts val="6721"/>
              </a:lnSpc>
              <a:buClr>
                <a:srgbClr val="000000"/>
              </a:buClr>
              <a:buFont typeface="Arial"/>
              <a:buChar char="•"/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As duas contribuem de forma independente para o desempenho.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2"/>
          <p:cNvSpPr/>
          <p:nvPr/>
        </p:nvSpPr>
        <p:spPr>
          <a:xfrm>
            <a:off x="714960" y="1025640"/>
            <a:ext cx="1685700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049"/>
              </a:lnSpc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Pesquisa de mercado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8647920" y="3138480"/>
            <a:ext cx="9256680" cy="24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940320" lvl="1" indent="-470160" defTabSz="914400">
              <a:lnSpc>
                <a:spcPts val="43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1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750 bilhões de linhas de código analisadas por dia</a:t>
            </a:r>
            <a:endParaRPr lang="en-US" sz="2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40320" lvl="1" indent="-470160" defTabSz="914400">
              <a:lnSpc>
                <a:spcPts val="43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1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Desenvolve ferramentas de análise e verificação de código</a:t>
            </a:r>
            <a:endParaRPr lang="en-US" sz="2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" name="Group 4"/>
          <p:cNvGrpSpPr/>
          <p:nvPr/>
        </p:nvGrpSpPr>
        <p:grpSpPr>
          <a:xfrm>
            <a:off x="9353520" y="905760"/>
            <a:ext cx="8309880" cy="2076840"/>
            <a:chOff x="9353520" y="905760"/>
            <a:chExt cx="8309880" cy="2076840"/>
          </a:xfrm>
        </p:grpSpPr>
        <p:sp>
          <p:nvSpPr>
            <p:cNvPr id="120" name="Freeform 5"/>
            <p:cNvSpPr/>
            <p:nvPr/>
          </p:nvSpPr>
          <p:spPr>
            <a:xfrm>
              <a:off x="9353520" y="905760"/>
              <a:ext cx="8309880" cy="2076840"/>
            </a:xfrm>
            <a:custGeom>
              <a:avLst/>
              <a:gdLst>
                <a:gd name="textAreaLeft" fmla="*/ 0 w 8309880"/>
                <a:gd name="textAreaRight" fmla="*/ 8310240 w 8309880"/>
                <a:gd name="textAreaTop" fmla="*/ 0 h 2076840"/>
                <a:gd name="textAreaBottom" fmla="*/ 2077200 h 2076840"/>
              </a:gdLst>
              <a:ahLst/>
              <a:cxnLst/>
              <a:rect l="textAreaLeft" t="textAreaTop" r="textAreaRight" b="textAreaBottom"/>
              <a:pathLst>
                <a:path w="11080369" h="2769616">
                  <a:moveTo>
                    <a:pt x="0" y="0"/>
                  </a:moveTo>
                  <a:lnTo>
                    <a:pt x="11080369" y="0"/>
                  </a:lnTo>
                  <a:lnTo>
                    <a:pt x="11080369" y="2769616"/>
                  </a:lnTo>
                  <a:lnTo>
                    <a:pt x="0" y="27696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" name="TextBox 6"/>
          <p:cNvSpPr/>
          <p:nvPr/>
        </p:nvSpPr>
        <p:spPr>
          <a:xfrm>
            <a:off x="620640" y="2738520"/>
            <a:ext cx="7120440" cy="56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044000" lvl="1" indent="-522000" defTabSz="914400">
              <a:lnSpc>
                <a:spcPts val="5624"/>
              </a:lnSpc>
              <a:buClr>
                <a:srgbClr val="000000"/>
              </a:buClr>
              <a:buFont typeface="Arial"/>
              <a:buChar char="•"/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1149 Respostas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44000" lvl="1" indent="-522000" defTabSz="914400">
              <a:lnSpc>
                <a:spcPts val="5624"/>
              </a:lnSpc>
              <a:buClr>
                <a:srgbClr val="000000"/>
              </a:buClr>
              <a:buFont typeface="Arial"/>
              <a:buChar char="•"/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Participantes distribuídos globalmente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44000" lvl="1" indent="-522000" defTabSz="914400">
              <a:lnSpc>
                <a:spcPts val="5624"/>
              </a:lnSpc>
              <a:buClr>
                <a:srgbClr val="000000"/>
              </a:buClr>
              <a:buFont typeface="Arial"/>
              <a:buChar char="•"/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Todos trabalham em funções de tecnologia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44000" lvl="1" indent="-522000" defTabSz="914400">
              <a:lnSpc>
                <a:spcPts val="5624"/>
              </a:lnSpc>
              <a:buClr>
                <a:srgbClr val="000000"/>
              </a:buClr>
              <a:buFont typeface="Arial"/>
              <a:buChar char="•"/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Todos haviam utilizado IA no trabalho durante o ano anterior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44000" indent="-522000" defTabSz="914400">
              <a:lnSpc>
                <a:spcPts val="5624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809280" y="2161800"/>
            <a:ext cx="3738600" cy="6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5"/>
              </a:lnSpc>
            </a:pPr>
            <a:r>
              <a:rPr lang="en-US" sz="3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 of Code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2"/>
          <p:cNvSpPr/>
          <p:nvPr/>
        </p:nvSpPr>
        <p:spPr>
          <a:xfrm>
            <a:off x="714960" y="1057320"/>
            <a:ext cx="1685700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049"/>
              </a:lnSpc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Pesquisa de mercado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4" name="Group 3"/>
          <p:cNvGrpSpPr/>
          <p:nvPr/>
        </p:nvGrpSpPr>
        <p:grpSpPr>
          <a:xfrm>
            <a:off x="304560" y="2387520"/>
            <a:ext cx="17677080" cy="7129800"/>
            <a:chOff x="304560" y="2387520"/>
            <a:chExt cx="17677080" cy="7129800"/>
          </a:xfrm>
        </p:grpSpPr>
        <p:sp>
          <p:nvSpPr>
            <p:cNvPr id="125" name="Freeform 4"/>
            <p:cNvSpPr/>
            <p:nvPr/>
          </p:nvSpPr>
          <p:spPr>
            <a:xfrm>
              <a:off x="304560" y="2387520"/>
              <a:ext cx="17677080" cy="7129800"/>
            </a:xfrm>
            <a:custGeom>
              <a:avLst/>
              <a:gdLst>
                <a:gd name="textAreaLeft" fmla="*/ 0 w 17677080"/>
                <a:gd name="textAreaRight" fmla="*/ 17677440 w 17677080"/>
                <a:gd name="textAreaTop" fmla="*/ 0 h 7129800"/>
                <a:gd name="textAreaBottom" fmla="*/ 7130160 h 7129800"/>
              </a:gdLst>
              <a:ahLst/>
              <a:cxnLst/>
              <a:rect l="textAreaLeft" t="textAreaTop" r="textAreaRight" b="textAreaBottom"/>
              <a:pathLst>
                <a:path w="23569930" h="9506839">
                  <a:moveTo>
                    <a:pt x="0" y="0"/>
                  </a:moveTo>
                  <a:lnTo>
                    <a:pt x="23569930" y="0"/>
                  </a:lnTo>
                  <a:lnTo>
                    <a:pt x="23569930" y="9506839"/>
                  </a:lnTo>
                  <a:lnTo>
                    <a:pt x="0" y="950683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2"/>
          <p:cNvSpPr/>
          <p:nvPr/>
        </p:nvSpPr>
        <p:spPr>
          <a:xfrm>
            <a:off x="714960" y="1057320"/>
            <a:ext cx="1685700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049"/>
              </a:lnSpc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Pesquisa de mercado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" name="Group 3"/>
          <p:cNvGrpSpPr/>
          <p:nvPr/>
        </p:nvGrpSpPr>
        <p:grpSpPr>
          <a:xfrm>
            <a:off x="623520" y="2082960"/>
            <a:ext cx="13082760" cy="7593480"/>
            <a:chOff x="623520" y="2082960"/>
            <a:chExt cx="13082760" cy="7593480"/>
          </a:xfrm>
        </p:grpSpPr>
        <p:sp>
          <p:nvSpPr>
            <p:cNvPr id="128" name="Freeform 4"/>
            <p:cNvSpPr/>
            <p:nvPr/>
          </p:nvSpPr>
          <p:spPr>
            <a:xfrm>
              <a:off x="623520" y="2082960"/>
              <a:ext cx="13082760" cy="7593480"/>
            </a:xfrm>
            <a:custGeom>
              <a:avLst/>
              <a:gdLst>
                <a:gd name="textAreaLeft" fmla="*/ 0 w 13082760"/>
                <a:gd name="textAreaRight" fmla="*/ 13083120 w 13082760"/>
                <a:gd name="textAreaTop" fmla="*/ 0 h 7593480"/>
                <a:gd name="textAreaBottom" fmla="*/ 7593840 h 7593480"/>
              </a:gdLst>
              <a:ahLst/>
              <a:cxnLst/>
              <a:rect l="textAreaLeft" t="textAreaTop" r="textAreaRight" b="textAreaBottom"/>
              <a:pathLst>
                <a:path w="17444213" h="10125075">
                  <a:moveTo>
                    <a:pt x="0" y="0"/>
                  </a:moveTo>
                  <a:lnTo>
                    <a:pt x="17444213" y="0"/>
                  </a:lnTo>
                  <a:lnTo>
                    <a:pt x="17444213" y="10125075"/>
                  </a:lnTo>
                  <a:lnTo>
                    <a:pt x="0" y="1012507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2"/>
          <p:cNvSpPr/>
          <p:nvPr/>
        </p:nvSpPr>
        <p:spPr>
          <a:xfrm>
            <a:off x="1113120" y="1009800"/>
            <a:ext cx="1685700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049"/>
              </a:lnSpc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Pesquisa de mercado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604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0" name="Group 3"/>
          <p:cNvGrpSpPr/>
          <p:nvPr/>
        </p:nvGrpSpPr>
        <p:grpSpPr>
          <a:xfrm>
            <a:off x="1021680" y="2035440"/>
            <a:ext cx="16244280" cy="7731720"/>
            <a:chOff x="1021680" y="2035440"/>
            <a:chExt cx="16244280" cy="7731720"/>
          </a:xfrm>
        </p:grpSpPr>
        <p:sp>
          <p:nvSpPr>
            <p:cNvPr id="131" name="Freeform 4"/>
            <p:cNvSpPr/>
            <p:nvPr/>
          </p:nvSpPr>
          <p:spPr>
            <a:xfrm>
              <a:off x="1021680" y="2035440"/>
              <a:ext cx="16244280" cy="7731720"/>
            </a:xfrm>
            <a:custGeom>
              <a:avLst/>
              <a:gdLst>
                <a:gd name="textAreaLeft" fmla="*/ 0 w 16244280"/>
                <a:gd name="textAreaRight" fmla="*/ 16244640 w 16244280"/>
                <a:gd name="textAreaTop" fmla="*/ 0 h 7731720"/>
                <a:gd name="textAreaBottom" fmla="*/ 7732080 h 7731720"/>
              </a:gdLst>
              <a:ahLst/>
              <a:cxnLst/>
              <a:rect l="textAreaLeft" t="textAreaTop" r="textAreaRight" b="textAreaBottom"/>
              <a:pathLst>
                <a:path w="21659469" h="10309479">
                  <a:moveTo>
                    <a:pt x="0" y="0"/>
                  </a:moveTo>
                  <a:lnTo>
                    <a:pt x="21659469" y="0"/>
                  </a:lnTo>
                  <a:lnTo>
                    <a:pt x="21659469" y="10309479"/>
                  </a:lnTo>
                  <a:lnTo>
                    <a:pt x="0" y="1030947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2"/>
          <p:cNvSpPr/>
          <p:nvPr/>
        </p:nvSpPr>
        <p:spPr>
          <a:xfrm>
            <a:off x="714960" y="1009800"/>
            <a:ext cx="1685700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593"/>
              </a:lnSpc>
            </a:pPr>
            <a:r>
              <a:rPr lang="en-US" sz="51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Código Escrito por Humanos VS Código Escrito por IAs</a:t>
            </a:r>
            <a:endParaRPr lang="en-US" sz="5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714960" y="2243880"/>
            <a:ext cx="16857000" cy="68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941"/>
              </a:lnSpc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Human-Written vs. AI-Generated Code: A Large-Scale Study of Defects, Vulnerabilities, and Complexity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2320" lvl="1" indent="-461160" defTabSz="914400">
              <a:lnSpc>
                <a:spcPts val="4941"/>
              </a:lnSpc>
              <a:buClr>
                <a:srgbClr val="000000"/>
              </a:buClr>
              <a:buFont typeface="Arial"/>
              <a:buChar char="•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500 mil amostras de código (funções/métodos) em Python e Java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2320" lvl="1" indent="-461160" defTabSz="914400">
              <a:lnSpc>
                <a:spcPts val="4941"/>
              </a:lnSpc>
              <a:buClr>
                <a:srgbClr val="000000"/>
              </a:buClr>
              <a:buFont typeface="Arial"/>
              <a:buChar char="•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 mil projetos públicos do GitHub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714960" y="5428440"/>
            <a:ext cx="16857000" cy="68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941"/>
              </a:lnSpc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Foco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2320" lvl="1" indent="-461160" defTabSz="914400">
              <a:lnSpc>
                <a:spcPts val="4941"/>
              </a:lnSpc>
              <a:buClr>
                <a:srgbClr val="000000"/>
              </a:buClr>
              <a:buFont typeface="Arial"/>
              <a:buChar char="•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Defeitos de código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2320" lvl="1" indent="-461160" defTabSz="914400">
              <a:lnSpc>
                <a:spcPts val="4941"/>
              </a:lnSpc>
              <a:buClr>
                <a:srgbClr val="000000"/>
              </a:buClr>
              <a:buFont typeface="Arial"/>
              <a:buChar char="•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Vulnerabilidades de segurança (CWE)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2320" lvl="1" indent="-461160" defTabSz="914400">
              <a:lnSpc>
                <a:spcPts val="4941"/>
              </a:lnSpc>
              <a:buClr>
                <a:srgbClr val="000000"/>
              </a:buClr>
              <a:buFont typeface="Arial"/>
              <a:buChar char="•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Complexidade estrutural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2"/>
          <p:cNvSpPr/>
          <p:nvPr/>
        </p:nvSpPr>
        <p:spPr>
          <a:xfrm>
            <a:off x="714960" y="1009800"/>
            <a:ext cx="1685700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593"/>
              </a:lnSpc>
            </a:pPr>
            <a:r>
              <a:rPr lang="en-US" sz="51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Código Escrito por Humanos VS Código Escrito por IAs</a:t>
            </a:r>
            <a:endParaRPr lang="en-US" sz="5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593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6" name="Group 3"/>
          <p:cNvGrpSpPr/>
          <p:nvPr/>
        </p:nvGrpSpPr>
        <p:grpSpPr>
          <a:xfrm>
            <a:off x="623520" y="2337120"/>
            <a:ext cx="8057880" cy="6800040"/>
            <a:chOff x="623520" y="2337120"/>
            <a:chExt cx="8057880" cy="6800040"/>
          </a:xfrm>
        </p:grpSpPr>
        <p:sp>
          <p:nvSpPr>
            <p:cNvPr id="137" name="Freeform 4"/>
            <p:cNvSpPr/>
            <p:nvPr/>
          </p:nvSpPr>
          <p:spPr>
            <a:xfrm>
              <a:off x="623520" y="2337120"/>
              <a:ext cx="8057880" cy="6800040"/>
            </a:xfrm>
            <a:custGeom>
              <a:avLst/>
              <a:gdLst>
                <a:gd name="textAreaLeft" fmla="*/ 0 w 8057880"/>
                <a:gd name="textAreaRight" fmla="*/ 8058240 w 8057880"/>
                <a:gd name="textAreaTop" fmla="*/ 0 h 6800040"/>
                <a:gd name="textAreaBottom" fmla="*/ 6800400 h 6800040"/>
              </a:gdLst>
              <a:ahLst/>
              <a:cxnLst/>
              <a:rect l="textAreaLeft" t="textAreaTop" r="textAreaRight" b="textAreaBottom"/>
              <a:pathLst>
                <a:path w="10744327" h="9067165">
                  <a:moveTo>
                    <a:pt x="0" y="0"/>
                  </a:moveTo>
                  <a:lnTo>
                    <a:pt x="10744327" y="0"/>
                  </a:lnTo>
                  <a:lnTo>
                    <a:pt x="10744327" y="9067165"/>
                  </a:lnTo>
                  <a:lnTo>
                    <a:pt x="0" y="906716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8" name="Group 5"/>
          <p:cNvGrpSpPr/>
          <p:nvPr/>
        </p:nvGrpSpPr>
        <p:grpSpPr>
          <a:xfrm>
            <a:off x="8824320" y="2337120"/>
            <a:ext cx="8760600" cy="6800040"/>
            <a:chOff x="8824320" y="2337120"/>
            <a:chExt cx="8760600" cy="6800040"/>
          </a:xfrm>
        </p:grpSpPr>
        <p:sp>
          <p:nvSpPr>
            <p:cNvPr id="139" name="Freeform 6"/>
            <p:cNvSpPr/>
            <p:nvPr/>
          </p:nvSpPr>
          <p:spPr>
            <a:xfrm>
              <a:off x="8824320" y="2337120"/>
              <a:ext cx="8760600" cy="6800040"/>
            </a:xfrm>
            <a:custGeom>
              <a:avLst/>
              <a:gdLst>
                <a:gd name="textAreaLeft" fmla="*/ 0 w 8760600"/>
                <a:gd name="textAreaRight" fmla="*/ 8760960 w 8760600"/>
                <a:gd name="textAreaTop" fmla="*/ 0 h 6800040"/>
                <a:gd name="textAreaBottom" fmla="*/ 6800400 h 6800040"/>
              </a:gdLst>
              <a:ahLst/>
              <a:cxnLst/>
              <a:rect l="textAreaLeft" t="textAreaTop" r="textAreaRight" b="textAreaBottom"/>
              <a:pathLst>
                <a:path w="11681333" h="9067165">
                  <a:moveTo>
                    <a:pt x="0" y="0"/>
                  </a:moveTo>
                  <a:lnTo>
                    <a:pt x="11681333" y="0"/>
                  </a:lnTo>
                  <a:lnTo>
                    <a:pt x="11681333" y="9067165"/>
                  </a:lnTo>
                  <a:lnTo>
                    <a:pt x="0" y="906716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2"/>
          <p:cNvSpPr/>
          <p:nvPr/>
        </p:nvSpPr>
        <p:spPr>
          <a:xfrm>
            <a:off x="714960" y="947160"/>
            <a:ext cx="1685700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593"/>
              </a:lnSpc>
            </a:pPr>
            <a:r>
              <a:rPr lang="en-US" sz="51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Código Escrito por Humanos VS Código Escrito por IAs</a:t>
            </a:r>
            <a:endParaRPr lang="en-US" sz="5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593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1" name="Group 3"/>
          <p:cNvGrpSpPr/>
          <p:nvPr/>
        </p:nvGrpSpPr>
        <p:grpSpPr>
          <a:xfrm>
            <a:off x="623520" y="2327760"/>
            <a:ext cx="14255640" cy="7621560"/>
            <a:chOff x="623520" y="2327760"/>
            <a:chExt cx="14255640" cy="7621560"/>
          </a:xfrm>
        </p:grpSpPr>
        <p:sp>
          <p:nvSpPr>
            <p:cNvPr id="142" name="Freeform 4"/>
            <p:cNvSpPr/>
            <p:nvPr/>
          </p:nvSpPr>
          <p:spPr>
            <a:xfrm>
              <a:off x="623520" y="2327760"/>
              <a:ext cx="14255640" cy="7621560"/>
            </a:xfrm>
            <a:custGeom>
              <a:avLst/>
              <a:gdLst>
                <a:gd name="textAreaLeft" fmla="*/ 0 w 14255640"/>
                <a:gd name="textAreaRight" fmla="*/ 14256000 w 14255640"/>
                <a:gd name="textAreaTop" fmla="*/ 0 h 7621560"/>
                <a:gd name="textAreaBottom" fmla="*/ 7621920 h 7621560"/>
              </a:gdLst>
              <a:ahLst/>
              <a:cxnLst/>
              <a:rect l="textAreaLeft" t="textAreaTop" r="textAreaRight" b="textAreaBottom"/>
              <a:pathLst>
                <a:path w="19007962" h="10162540">
                  <a:moveTo>
                    <a:pt x="0" y="0"/>
                  </a:moveTo>
                  <a:lnTo>
                    <a:pt x="19007962" y="0"/>
                  </a:lnTo>
                  <a:lnTo>
                    <a:pt x="19007962" y="10162540"/>
                  </a:lnTo>
                  <a:lnTo>
                    <a:pt x="0" y="1016254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2"/>
          <p:cNvSpPr/>
          <p:nvPr/>
        </p:nvSpPr>
        <p:spPr>
          <a:xfrm>
            <a:off x="714960" y="1025640"/>
            <a:ext cx="1685700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049"/>
              </a:lnSpc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Conclusão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571680" y="3798360"/>
            <a:ext cx="16857000" cy="56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044000" lvl="1" indent="-522000" defTabSz="914400">
              <a:lnSpc>
                <a:spcPts val="5624"/>
              </a:lnSpc>
              <a:buClr>
                <a:srgbClr val="000000"/>
              </a:buClr>
              <a:buFont typeface="Arial"/>
              <a:buChar char="•"/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Fundamentos de ciências da computação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44000" lvl="1" indent="-522000" defTabSz="914400">
              <a:lnSpc>
                <a:spcPts val="5624"/>
              </a:lnSpc>
              <a:buClr>
                <a:srgbClr val="000000"/>
              </a:buClr>
              <a:buFont typeface="Arial"/>
              <a:buChar char="•"/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Transposição de ideias e requisitos em texto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44000" lvl="1" indent="-522000" defTabSz="914400">
              <a:lnSpc>
                <a:spcPts val="5624"/>
              </a:lnSpc>
              <a:buClr>
                <a:srgbClr val="000000"/>
              </a:buClr>
              <a:buFont typeface="Arial"/>
              <a:buChar char="•"/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Identificação de erros funcionais e vulnerabilidades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44000" lvl="1" indent="-522000" defTabSz="914400">
              <a:lnSpc>
                <a:spcPts val="5624"/>
              </a:lnSpc>
              <a:buClr>
                <a:srgbClr val="000000"/>
              </a:buClr>
              <a:buFont typeface="Arial"/>
              <a:buChar char="•"/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Conhecimentos e domínio de ferramentas de qualidade de software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44000" indent="-522000" defTabSz="914400">
              <a:lnSpc>
                <a:spcPts val="5624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714960" y="2445480"/>
            <a:ext cx="12483720" cy="6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007"/>
              </a:lnSpc>
            </a:pPr>
            <a:r>
              <a:rPr lang="en-US" sz="209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Habilidades e conhecimentos valiosos dentro de um ambiente de desenvolvimento assistido por IAs</a:t>
            </a:r>
            <a:endParaRPr lang="en-US" sz="2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2"/>
          <p:cNvSpPr/>
          <p:nvPr/>
        </p:nvSpPr>
        <p:spPr>
          <a:xfrm>
            <a:off x="247680" y="412200"/>
            <a:ext cx="16857000" cy="20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239"/>
              </a:lnSpc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que uma pessoa precisa saber para transformar uma ideia em software que funciona? 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247680" y="2630520"/>
            <a:ext cx="964692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079"/>
              </a:lnSpc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Programar sem saber programar 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247680" y="3467160"/>
            <a:ext cx="15665400" cy="62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75% dos usuários do Replit nunca escrevem uma linha de código, segundo o CEO da plataforma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91440" y="9536760"/>
            <a:ext cx="1426356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16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Fonte: dados reunidos por Thorgeirsson, Weidmann e Su (2026)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0" name="Group 6"/>
          <p:cNvGrpSpPr/>
          <p:nvPr/>
        </p:nvGrpSpPr>
        <p:grpSpPr>
          <a:xfrm>
            <a:off x="5994000" y="5037840"/>
            <a:ext cx="5777640" cy="4352040"/>
            <a:chOff x="5994000" y="5037840"/>
            <a:chExt cx="5777640" cy="4352040"/>
          </a:xfrm>
        </p:grpSpPr>
        <p:sp>
          <p:nvSpPr>
            <p:cNvPr id="151" name="Freeform 7"/>
            <p:cNvSpPr/>
            <p:nvPr/>
          </p:nvSpPr>
          <p:spPr>
            <a:xfrm>
              <a:off x="5994000" y="5052240"/>
              <a:ext cx="5777640" cy="4337640"/>
            </a:xfrm>
            <a:custGeom>
              <a:avLst/>
              <a:gdLst>
                <a:gd name="textAreaLeft" fmla="*/ 0 w 5777640"/>
                <a:gd name="textAreaRight" fmla="*/ 5778000 w 5777640"/>
                <a:gd name="textAreaTop" fmla="*/ 0 h 4337640"/>
                <a:gd name="textAreaBottom" fmla="*/ 4338000 h 4337640"/>
              </a:gdLst>
              <a:ahLst/>
              <a:cxnLst/>
              <a:rect l="textAreaLeft" t="textAreaTop" r="textAreaRight" b="textAreaBottom"/>
              <a:pathLst>
                <a:path w="7704074" h="5784088">
                  <a:moveTo>
                    <a:pt x="0" y="964057"/>
                  </a:moveTo>
                  <a:cubicBezTo>
                    <a:pt x="0" y="431546"/>
                    <a:pt x="431546" y="0"/>
                    <a:pt x="964057" y="0"/>
                  </a:cubicBezTo>
                  <a:lnTo>
                    <a:pt x="6740017" y="0"/>
                  </a:lnTo>
                  <a:cubicBezTo>
                    <a:pt x="7272401" y="0"/>
                    <a:pt x="7704074" y="431546"/>
                    <a:pt x="7704074" y="964057"/>
                  </a:cubicBezTo>
                  <a:lnTo>
                    <a:pt x="7704074" y="4820031"/>
                  </a:lnTo>
                  <a:cubicBezTo>
                    <a:pt x="7704074" y="5352415"/>
                    <a:pt x="7272528" y="5784088"/>
                    <a:pt x="6740017" y="5784088"/>
                  </a:cubicBezTo>
                  <a:lnTo>
                    <a:pt x="964057" y="5784088"/>
                  </a:lnTo>
                  <a:cubicBezTo>
                    <a:pt x="431546" y="5783961"/>
                    <a:pt x="0" y="5352415"/>
                    <a:pt x="0" y="4820031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TextBox 8"/>
            <p:cNvSpPr/>
            <p:nvPr/>
          </p:nvSpPr>
          <p:spPr>
            <a:xfrm>
              <a:off x="5994000" y="5037840"/>
              <a:ext cx="5777640" cy="43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079"/>
                </a:lnSpc>
              </a:pPr>
              <a:r>
                <a:rPr lang="en-US" sz="3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10 mi+ projetos criados no Lovable </a:t>
              </a:r>
              <a:endParaRPr lang="en-US" sz="3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3" name="Group 9"/>
          <p:cNvGrpSpPr/>
          <p:nvPr/>
        </p:nvGrpSpPr>
        <p:grpSpPr>
          <a:xfrm>
            <a:off x="12018240" y="5037840"/>
            <a:ext cx="6017400" cy="4352040"/>
            <a:chOff x="12018240" y="5037840"/>
            <a:chExt cx="6017400" cy="4352040"/>
          </a:xfrm>
        </p:grpSpPr>
        <p:sp>
          <p:nvSpPr>
            <p:cNvPr id="154" name="Freeform 10"/>
            <p:cNvSpPr/>
            <p:nvPr/>
          </p:nvSpPr>
          <p:spPr>
            <a:xfrm>
              <a:off x="12018240" y="5052240"/>
              <a:ext cx="6017400" cy="4337640"/>
            </a:xfrm>
            <a:custGeom>
              <a:avLst/>
              <a:gdLst>
                <a:gd name="textAreaLeft" fmla="*/ 0 w 6017400"/>
                <a:gd name="textAreaRight" fmla="*/ 6017760 w 6017400"/>
                <a:gd name="textAreaTop" fmla="*/ 0 h 4337640"/>
                <a:gd name="textAreaBottom" fmla="*/ 4338000 h 4337640"/>
              </a:gdLst>
              <a:ahLst/>
              <a:cxnLst/>
              <a:rect l="textAreaLeft" t="textAreaTop" r="textAreaRight" b="textAreaBottom"/>
              <a:pathLst>
                <a:path w="8023733" h="5784088">
                  <a:moveTo>
                    <a:pt x="0" y="964057"/>
                  </a:moveTo>
                  <a:cubicBezTo>
                    <a:pt x="0" y="431546"/>
                    <a:pt x="431546" y="0"/>
                    <a:pt x="964057" y="0"/>
                  </a:cubicBezTo>
                  <a:lnTo>
                    <a:pt x="7059676" y="0"/>
                  </a:lnTo>
                  <a:cubicBezTo>
                    <a:pt x="7592060" y="0"/>
                    <a:pt x="8023733" y="431546"/>
                    <a:pt x="8023733" y="964057"/>
                  </a:cubicBezTo>
                  <a:lnTo>
                    <a:pt x="8023733" y="4820031"/>
                  </a:lnTo>
                  <a:cubicBezTo>
                    <a:pt x="8023733" y="5352415"/>
                    <a:pt x="7592187" y="5784088"/>
                    <a:pt x="7059676" y="5784088"/>
                  </a:cubicBezTo>
                  <a:lnTo>
                    <a:pt x="964057" y="5784088"/>
                  </a:lnTo>
                  <a:cubicBezTo>
                    <a:pt x="431546" y="5783961"/>
                    <a:pt x="0" y="5352415"/>
                    <a:pt x="0" y="4820031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TextBox 11"/>
            <p:cNvSpPr/>
            <p:nvPr/>
          </p:nvSpPr>
          <p:spPr>
            <a:xfrm>
              <a:off x="12018240" y="5037840"/>
              <a:ext cx="6017400" cy="43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079"/>
                </a:lnSpc>
              </a:pPr>
              <a:r>
                <a:rPr lang="en-US" sz="3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 mi+ usuários do Cursor em 2025 </a:t>
              </a:r>
              <a:endParaRPr lang="en-US" sz="3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4079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" name="Group 12"/>
          <p:cNvGrpSpPr/>
          <p:nvPr/>
        </p:nvGrpSpPr>
        <p:grpSpPr>
          <a:xfrm>
            <a:off x="146880" y="5037840"/>
            <a:ext cx="5657400" cy="4352040"/>
            <a:chOff x="146880" y="5037840"/>
            <a:chExt cx="5657400" cy="4352040"/>
          </a:xfrm>
        </p:grpSpPr>
        <p:sp>
          <p:nvSpPr>
            <p:cNvPr id="157" name="Freeform 13"/>
            <p:cNvSpPr/>
            <p:nvPr/>
          </p:nvSpPr>
          <p:spPr>
            <a:xfrm>
              <a:off x="146880" y="5052240"/>
              <a:ext cx="5657400" cy="4337640"/>
            </a:xfrm>
            <a:custGeom>
              <a:avLst/>
              <a:gdLst>
                <a:gd name="textAreaLeft" fmla="*/ 0 w 5657400"/>
                <a:gd name="textAreaRight" fmla="*/ 5657760 w 5657400"/>
                <a:gd name="textAreaTop" fmla="*/ 0 h 4337640"/>
                <a:gd name="textAreaBottom" fmla="*/ 4338000 h 4337640"/>
              </a:gdLst>
              <a:ahLst/>
              <a:cxnLst/>
              <a:rect l="textAreaLeft" t="textAreaTop" r="textAreaRight" b="textAreaBottom"/>
              <a:pathLst>
                <a:path w="7543674" h="5784088">
                  <a:moveTo>
                    <a:pt x="0" y="964057"/>
                  </a:moveTo>
                  <a:cubicBezTo>
                    <a:pt x="0" y="431546"/>
                    <a:pt x="431546" y="0"/>
                    <a:pt x="964057" y="0"/>
                  </a:cubicBezTo>
                  <a:lnTo>
                    <a:pt x="6579616" y="0"/>
                  </a:lnTo>
                  <a:cubicBezTo>
                    <a:pt x="7112000" y="0"/>
                    <a:pt x="7543674" y="431546"/>
                    <a:pt x="7543674" y="964057"/>
                  </a:cubicBezTo>
                  <a:lnTo>
                    <a:pt x="7543674" y="4820031"/>
                  </a:lnTo>
                  <a:cubicBezTo>
                    <a:pt x="7543674" y="5352415"/>
                    <a:pt x="7112127" y="5784088"/>
                    <a:pt x="6579616" y="5784088"/>
                  </a:cubicBezTo>
                  <a:lnTo>
                    <a:pt x="964057" y="5784088"/>
                  </a:lnTo>
                  <a:cubicBezTo>
                    <a:pt x="431546" y="5783961"/>
                    <a:pt x="0" y="5352415"/>
                    <a:pt x="0" y="4820031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TextBox 14"/>
            <p:cNvSpPr/>
            <p:nvPr/>
          </p:nvSpPr>
          <p:spPr>
            <a:xfrm>
              <a:off x="146880" y="5037840"/>
              <a:ext cx="5657400" cy="43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079"/>
                </a:lnSpc>
              </a:pPr>
              <a:r>
                <a:rPr lang="en-US" sz="3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40 mi+ usuários no Replit </a:t>
              </a:r>
              <a:endParaRPr lang="en-US" sz="3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2"/>
          <p:cNvSpPr/>
          <p:nvPr/>
        </p:nvSpPr>
        <p:spPr>
          <a:xfrm>
            <a:off x="91440" y="465480"/>
            <a:ext cx="18104040" cy="9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239"/>
              </a:lnSpc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experimento escondeu o código 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15120" y="7758360"/>
            <a:ext cx="18256680" cy="62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100 estudantes universitários · 3 tarefas de 15 minutos · testes prévios de computação, escrita e raciocínio geral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91440" y="9536760"/>
            <a:ext cx="744516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16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Fonte: Thorgeirsson, Weidmann e Su (2026)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2" name="Group 5"/>
          <p:cNvGrpSpPr/>
          <p:nvPr/>
        </p:nvGrpSpPr>
        <p:grpSpPr>
          <a:xfrm>
            <a:off x="289440" y="2629440"/>
            <a:ext cx="5657400" cy="4359240"/>
            <a:chOff x="289440" y="2629440"/>
            <a:chExt cx="5657400" cy="4359240"/>
          </a:xfrm>
        </p:grpSpPr>
        <p:sp>
          <p:nvSpPr>
            <p:cNvPr id="163" name="Freeform 6"/>
            <p:cNvSpPr/>
            <p:nvPr/>
          </p:nvSpPr>
          <p:spPr>
            <a:xfrm>
              <a:off x="289440" y="2651040"/>
              <a:ext cx="5657400" cy="4337640"/>
            </a:xfrm>
            <a:custGeom>
              <a:avLst/>
              <a:gdLst>
                <a:gd name="textAreaLeft" fmla="*/ 0 w 5657400"/>
                <a:gd name="textAreaRight" fmla="*/ 5657760 w 5657400"/>
                <a:gd name="textAreaTop" fmla="*/ 0 h 4337640"/>
                <a:gd name="textAreaBottom" fmla="*/ 4338000 h 4337640"/>
              </a:gdLst>
              <a:ahLst/>
              <a:cxnLst/>
              <a:rect l="textAreaLeft" t="textAreaTop" r="textAreaRight" b="textAreaBottom"/>
              <a:pathLst>
                <a:path w="7543674" h="5784088">
                  <a:moveTo>
                    <a:pt x="0" y="964057"/>
                  </a:moveTo>
                  <a:cubicBezTo>
                    <a:pt x="0" y="431546"/>
                    <a:pt x="431546" y="0"/>
                    <a:pt x="964057" y="0"/>
                  </a:cubicBezTo>
                  <a:lnTo>
                    <a:pt x="6579616" y="0"/>
                  </a:lnTo>
                  <a:cubicBezTo>
                    <a:pt x="7112000" y="0"/>
                    <a:pt x="7543674" y="431546"/>
                    <a:pt x="7543674" y="964057"/>
                  </a:cubicBezTo>
                  <a:lnTo>
                    <a:pt x="7543674" y="4820031"/>
                  </a:lnTo>
                  <a:cubicBezTo>
                    <a:pt x="7543674" y="5352415"/>
                    <a:pt x="7112127" y="5784088"/>
                    <a:pt x="6579616" y="5784088"/>
                  </a:cubicBezTo>
                  <a:lnTo>
                    <a:pt x="964057" y="5784088"/>
                  </a:lnTo>
                  <a:cubicBezTo>
                    <a:pt x="431546" y="5783961"/>
                    <a:pt x="0" y="5352415"/>
                    <a:pt x="0" y="4820031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TextBox 7"/>
            <p:cNvSpPr/>
            <p:nvPr/>
          </p:nvSpPr>
          <p:spPr>
            <a:xfrm>
              <a:off x="289440" y="2629440"/>
              <a:ext cx="5657400" cy="435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320"/>
                </a:lnSpc>
              </a:pPr>
              <a:r>
                <a:rPr lang="en-US" sz="3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Chat Chat com a IA visível 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5" name="Group 8"/>
          <p:cNvGrpSpPr/>
          <p:nvPr/>
        </p:nvGrpSpPr>
        <p:grpSpPr>
          <a:xfrm>
            <a:off x="6314400" y="2629440"/>
            <a:ext cx="5657400" cy="4359240"/>
            <a:chOff x="6314400" y="2629440"/>
            <a:chExt cx="5657400" cy="4359240"/>
          </a:xfrm>
        </p:grpSpPr>
        <p:sp>
          <p:nvSpPr>
            <p:cNvPr id="166" name="Freeform 9"/>
            <p:cNvSpPr/>
            <p:nvPr/>
          </p:nvSpPr>
          <p:spPr>
            <a:xfrm>
              <a:off x="6314400" y="2651040"/>
              <a:ext cx="5657400" cy="4337640"/>
            </a:xfrm>
            <a:custGeom>
              <a:avLst/>
              <a:gdLst>
                <a:gd name="textAreaLeft" fmla="*/ 0 w 5657400"/>
                <a:gd name="textAreaRight" fmla="*/ 5657760 w 5657400"/>
                <a:gd name="textAreaTop" fmla="*/ 0 h 4337640"/>
                <a:gd name="textAreaBottom" fmla="*/ 4338000 h 4337640"/>
              </a:gdLst>
              <a:ahLst/>
              <a:cxnLst/>
              <a:rect l="textAreaLeft" t="textAreaTop" r="textAreaRight" b="textAreaBottom"/>
              <a:pathLst>
                <a:path w="7543674" h="5784088">
                  <a:moveTo>
                    <a:pt x="0" y="964057"/>
                  </a:moveTo>
                  <a:cubicBezTo>
                    <a:pt x="0" y="431546"/>
                    <a:pt x="431546" y="0"/>
                    <a:pt x="964057" y="0"/>
                  </a:cubicBezTo>
                  <a:lnTo>
                    <a:pt x="6579616" y="0"/>
                  </a:lnTo>
                  <a:cubicBezTo>
                    <a:pt x="7112000" y="0"/>
                    <a:pt x="7543674" y="431546"/>
                    <a:pt x="7543674" y="964057"/>
                  </a:cubicBezTo>
                  <a:lnTo>
                    <a:pt x="7543674" y="4820031"/>
                  </a:lnTo>
                  <a:cubicBezTo>
                    <a:pt x="7543674" y="5352415"/>
                    <a:pt x="7112127" y="5784088"/>
                    <a:pt x="6579616" y="5784088"/>
                  </a:cubicBezTo>
                  <a:lnTo>
                    <a:pt x="964057" y="5784088"/>
                  </a:lnTo>
                  <a:cubicBezTo>
                    <a:pt x="431546" y="5783961"/>
                    <a:pt x="0" y="5352415"/>
                    <a:pt x="0" y="4820031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TextBox 10"/>
            <p:cNvSpPr/>
            <p:nvPr/>
          </p:nvSpPr>
          <p:spPr>
            <a:xfrm>
              <a:off x="6314400" y="2629440"/>
              <a:ext cx="5657400" cy="435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320"/>
                </a:lnSpc>
              </a:pPr>
              <a:r>
                <a:rPr lang="en-US" sz="3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Play Prévia do app visível 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8" name="Group 11"/>
          <p:cNvGrpSpPr/>
          <p:nvPr/>
        </p:nvGrpSpPr>
        <p:grpSpPr>
          <a:xfrm>
            <a:off x="12340080" y="2629440"/>
            <a:ext cx="5657400" cy="4359240"/>
            <a:chOff x="12340080" y="2629440"/>
            <a:chExt cx="5657400" cy="4359240"/>
          </a:xfrm>
        </p:grpSpPr>
        <p:sp>
          <p:nvSpPr>
            <p:cNvPr id="169" name="Freeform 12"/>
            <p:cNvSpPr/>
            <p:nvPr/>
          </p:nvSpPr>
          <p:spPr>
            <a:xfrm>
              <a:off x="12340080" y="2651040"/>
              <a:ext cx="5657400" cy="4337640"/>
            </a:xfrm>
            <a:custGeom>
              <a:avLst/>
              <a:gdLst>
                <a:gd name="textAreaLeft" fmla="*/ 0 w 5657400"/>
                <a:gd name="textAreaRight" fmla="*/ 5657760 w 5657400"/>
                <a:gd name="textAreaTop" fmla="*/ 0 h 4337640"/>
                <a:gd name="textAreaBottom" fmla="*/ 4338000 h 4337640"/>
              </a:gdLst>
              <a:ahLst/>
              <a:cxnLst/>
              <a:rect l="textAreaLeft" t="textAreaTop" r="textAreaRight" b="textAreaBottom"/>
              <a:pathLst>
                <a:path w="7543674" h="5784088">
                  <a:moveTo>
                    <a:pt x="0" y="964057"/>
                  </a:moveTo>
                  <a:cubicBezTo>
                    <a:pt x="0" y="431546"/>
                    <a:pt x="431546" y="0"/>
                    <a:pt x="964057" y="0"/>
                  </a:cubicBezTo>
                  <a:lnTo>
                    <a:pt x="6579616" y="0"/>
                  </a:lnTo>
                  <a:cubicBezTo>
                    <a:pt x="7112000" y="0"/>
                    <a:pt x="7543674" y="431546"/>
                    <a:pt x="7543674" y="964057"/>
                  </a:cubicBezTo>
                  <a:lnTo>
                    <a:pt x="7543674" y="4820031"/>
                  </a:lnTo>
                  <a:cubicBezTo>
                    <a:pt x="7543674" y="5352415"/>
                    <a:pt x="7112127" y="5784088"/>
                    <a:pt x="6579616" y="5784088"/>
                  </a:cubicBezTo>
                  <a:lnTo>
                    <a:pt x="964057" y="5784088"/>
                  </a:lnTo>
                  <a:cubicBezTo>
                    <a:pt x="431546" y="5783961"/>
                    <a:pt x="0" y="5352415"/>
                    <a:pt x="0" y="4820031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TextBox 13"/>
            <p:cNvSpPr/>
            <p:nvPr/>
          </p:nvSpPr>
          <p:spPr>
            <a:xfrm>
              <a:off x="12340080" y="2629440"/>
              <a:ext cx="5657400" cy="435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320"/>
                </a:lnSpc>
              </a:pPr>
              <a:r>
                <a:rPr lang="en-US" sz="3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Lock Código-fonte borrado: sem leitura, sem edição 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2"/>
          <p:cNvSpPr/>
          <p:nvPr/>
        </p:nvSpPr>
        <p:spPr>
          <a:xfrm>
            <a:off x="91440" y="72360"/>
            <a:ext cx="18104040" cy="9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239"/>
              </a:lnSpc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Saber computação previu o desempenho 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91440" y="1814760"/>
            <a:ext cx="11503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1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Correlação com o desempenho (r)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91440" y="2826360"/>
            <a:ext cx="5815800" cy="62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Computação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91440" y="3767400"/>
            <a:ext cx="5815800" cy="62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Escrita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91440" y="5484600"/>
            <a:ext cx="117385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1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Removendo o efeito do raciocínio geral (r parcial)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7"/>
          <p:cNvSpPr/>
          <p:nvPr/>
        </p:nvSpPr>
        <p:spPr>
          <a:xfrm>
            <a:off x="91440" y="6482520"/>
            <a:ext cx="5815800" cy="62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Computação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8"/>
          <p:cNvSpPr/>
          <p:nvPr/>
        </p:nvSpPr>
        <p:spPr>
          <a:xfrm>
            <a:off x="91440" y="7283160"/>
            <a:ext cx="5815800" cy="62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Escrita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91440" y="8508600"/>
            <a:ext cx="18104040" cy="62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Variância única explicada: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12,5%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computação,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5,9%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escrita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91440" y="9536760"/>
            <a:ext cx="1466028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16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Fonte: Thorgeirsson, Weidmann e Su (2026), tabela 3 e seção 8.2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0" name="Group 11"/>
          <p:cNvGrpSpPr/>
          <p:nvPr/>
        </p:nvGrpSpPr>
        <p:grpSpPr>
          <a:xfrm>
            <a:off x="2664720" y="2869200"/>
            <a:ext cx="9707400" cy="693720"/>
            <a:chOff x="2664720" y="2869200"/>
            <a:chExt cx="9707400" cy="693720"/>
          </a:xfrm>
        </p:grpSpPr>
        <p:sp>
          <p:nvSpPr>
            <p:cNvPr id="181" name="Freeform 12"/>
            <p:cNvSpPr/>
            <p:nvPr/>
          </p:nvSpPr>
          <p:spPr>
            <a:xfrm>
              <a:off x="2664720" y="2869200"/>
              <a:ext cx="9707400" cy="693720"/>
            </a:xfrm>
            <a:custGeom>
              <a:avLst/>
              <a:gdLst>
                <a:gd name="textAreaLeft" fmla="*/ 0 w 9707400"/>
                <a:gd name="textAreaRight" fmla="*/ 9707760 w 970740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12943713" h="925449">
                  <a:moveTo>
                    <a:pt x="0" y="0"/>
                  </a:moveTo>
                  <a:lnTo>
                    <a:pt x="12943713" y="0"/>
                  </a:lnTo>
                  <a:lnTo>
                    <a:pt x="12943713" y="925449"/>
                  </a:lnTo>
                  <a:lnTo>
                    <a:pt x="0" y="925449"/>
                  </a:lnTo>
                  <a:close/>
                </a:path>
              </a:pathLst>
            </a:custGeom>
            <a:solidFill>
              <a:srgbClr val="4285F4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2" name="Group 13"/>
          <p:cNvGrpSpPr/>
          <p:nvPr/>
        </p:nvGrpSpPr>
        <p:grpSpPr>
          <a:xfrm>
            <a:off x="2664720" y="3810240"/>
            <a:ext cx="7126920" cy="693720"/>
            <a:chOff x="2664720" y="3810240"/>
            <a:chExt cx="7126920" cy="693720"/>
          </a:xfrm>
        </p:grpSpPr>
        <p:sp>
          <p:nvSpPr>
            <p:cNvPr id="183" name="Freeform 14"/>
            <p:cNvSpPr/>
            <p:nvPr/>
          </p:nvSpPr>
          <p:spPr>
            <a:xfrm>
              <a:off x="2664720" y="3810240"/>
              <a:ext cx="7126920" cy="693720"/>
            </a:xfrm>
            <a:custGeom>
              <a:avLst/>
              <a:gdLst>
                <a:gd name="textAreaLeft" fmla="*/ 0 w 7126920"/>
                <a:gd name="textAreaRight" fmla="*/ 7127280 w 712692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9503029" h="925449">
                  <a:moveTo>
                    <a:pt x="0" y="0"/>
                  </a:moveTo>
                  <a:lnTo>
                    <a:pt x="9503029" y="0"/>
                  </a:lnTo>
                  <a:lnTo>
                    <a:pt x="9503029" y="925449"/>
                  </a:lnTo>
                  <a:lnTo>
                    <a:pt x="0" y="925449"/>
                  </a:lnTo>
                  <a:close/>
                </a:path>
              </a:pathLst>
            </a:custGeom>
            <a:solidFill>
              <a:srgbClr val="4285F4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4" name="Group 15"/>
          <p:cNvGrpSpPr/>
          <p:nvPr/>
        </p:nvGrpSpPr>
        <p:grpSpPr>
          <a:xfrm>
            <a:off x="2664720" y="6428880"/>
            <a:ext cx="7001640" cy="693720"/>
            <a:chOff x="2664720" y="6428880"/>
            <a:chExt cx="7001640" cy="693720"/>
          </a:xfrm>
        </p:grpSpPr>
        <p:sp>
          <p:nvSpPr>
            <p:cNvPr id="185" name="Freeform 16"/>
            <p:cNvSpPr/>
            <p:nvPr/>
          </p:nvSpPr>
          <p:spPr>
            <a:xfrm>
              <a:off x="2664720" y="6428880"/>
              <a:ext cx="7001640" cy="693720"/>
            </a:xfrm>
            <a:custGeom>
              <a:avLst/>
              <a:gdLst>
                <a:gd name="textAreaLeft" fmla="*/ 0 w 7001640"/>
                <a:gd name="textAreaRight" fmla="*/ 7002000 w 700164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9336024" h="925449">
                  <a:moveTo>
                    <a:pt x="0" y="0"/>
                  </a:moveTo>
                  <a:lnTo>
                    <a:pt x="9336024" y="0"/>
                  </a:lnTo>
                  <a:lnTo>
                    <a:pt x="9336024" y="925449"/>
                  </a:lnTo>
                  <a:lnTo>
                    <a:pt x="0" y="925449"/>
                  </a:lnTo>
                  <a:close/>
                </a:path>
              </a:pathLst>
            </a:custGeom>
            <a:solidFill>
              <a:srgbClr val="4285F4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6" name="Group 17"/>
          <p:cNvGrpSpPr/>
          <p:nvPr/>
        </p:nvGrpSpPr>
        <p:grpSpPr>
          <a:xfrm>
            <a:off x="2664720" y="7311600"/>
            <a:ext cx="5129640" cy="693720"/>
            <a:chOff x="2664720" y="7311600"/>
            <a:chExt cx="5129640" cy="693720"/>
          </a:xfrm>
        </p:grpSpPr>
        <p:sp>
          <p:nvSpPr>
            <p:cNvPr id="187" name="Freeform 18"/>
            <p:cNvSpPr/>
            <p:nvPr/>
          </p:nvSpPr>
          <p:spPr>
            <a:xfrm>
              <a:off x="2664720" y="7311600"/>
              <a:ext cx="5129640" cy="693720"/>
            </a:xfrm>
            <a:custGeom>
              <a:avLst/>
              <a:gdLst>
                <a:gd name="textAreaLeft" fmla="*/ 0 w 5129640"/>
                <a:gd name="textAreaRight" fmla="*/ 5130000 w 512964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6839966" h="925449">
                  <a:moveTo>
                    <a:pt x="0" y="0"/>
                  </a:moveTo>
                  <a:lnTo>
                    <a:pt x="6839966" y="0"/>
                  </a:lnTo>
                  <a:lnTo>
                    <a:pt x="6839966" y="925449"/>
                  </a:lnTo>
                  <a:lnTo>
                    <a:pt x="0" y="925449"/>
                  </a:lnTo>
                  <a:close/>
                </a:path>
              </a:pathLst>
            </a:custGeom>
            <a:solidFill>
              <a:srgbClr val="4285F4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8" name="TextBox 19"/>
          <p:cNvSpPr/>
          <p:nvPr/>
        </p:nvSpPr>
        <p:spPr>
          <a:xfrm>
            <a:off x="12816720" y="2817720"/>
            <a:ext cx="571500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320"/>
              </a:lnSpc>
            </a:pPr>
            <a:r>
              <a:rPr lang="en-US" sz="36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0,39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0"/>
          <p:cNvSpPr/>
          <p:nvPr/>
        </p:nvSpPr>
        <p:spPr>
          <a:xfrm>
            <a:off x="10069920" y="3758760"/>
            <a:ext cx="571500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320"/>
              </a:lnSpc>
            </a:pPr>
            <a:r>
              <a:rPr lang="en-US" sz="36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0,29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21"/>
          <p:cNvSpPr/>
          <p:nvPr/>
        </p:nvSpPr>
        <p:spPr>
          <a:xfrm>
            <a:off x="8002800" y="7273080"/>
            <a:ext cx="571500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320"/>
              </a:lnSpc>
            </a:pPr>
            <a:r>
              <a:rPr lang="en-US" sz="36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0,19 não significativo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2"/>
          <p:cNvSpPr/>
          <p:nvPr/>
        </p:nvSpPr>
        <p:spPr>
          <a:xfrm>
            <a:off x="9874800" y="6377400"/>
            <a:ext cx="571500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320"/>
              </a:lnSpc>
            </a:pPr>
            <a:r>
              <a:rPr lang="en-US" sz="36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0,28  p = 0,005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2"/>
          <p:cNvSpPr/>
          <p:nvPr/>
        </p:nvSpPr>
        <p:spPr>
          <a:xfrm>
            <a:off x="91440" y="465480"/>
            <a:ext cx="18104040" cy="9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239"/>
              </a:lnSpc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conteúdo do pedido prevê o sucesso 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91440" y="7669080"/>
            <a:ext cx="18104040" cy="12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079"/>
              </a:lnSpc>
            </a:pP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Vocabulário técnico fraco só se correlaciona com a falha. O que prevê o sucesso é a informação que o pedido carrega. 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91440" y="9598680"/>
            <a:ext cx="1810404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16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Fonte: Lucchetti et al. (2025); exemplo relatado por Thorgeirsson, Weidmann e Su (2026)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5" name="Group 5"/>
          <p:cNvGrpSpPr/>
          <p:nvPr/>
        </p:nvGrpSpPr>
        <p:grpSpPr>
          <a:xfrm>
            <a:off x="981360" y="2493360"/>
            <a:ext cx="5657400" cy="4352040"/>
            <a:chOff x="981360" y="2493360"/>
            <a:chExt cx="5657400" cy="4352040"/>
          </a:xfrm>
        </p:grpSpPr>
        <p:sp>
          <p:nvSpPr>
            <p:cNvPr id="196" name="Freeform 6"/>
            <p:cNvSpPr/>
            <p:nvPr/>
          </p:nvSpPr>
          <p:spPr>
            <a:xfrm>
              <a:off x="981360" y="2507760"/>
              <a:ext cx="5657400" cy="4337640"/>
            </a:xfrm>
            <a:custGeom>
              <a:avLst/>
              <a:gdLst>
                <a:gd name="textAreaLeft" fmla="*/ 0 w 5657400"/>
                <a:gd name="textAreaRight" fmla="*/ 5657760 w 5657400"/>
                <a:gd name="textAreaTop" fmla="*/ 0 h 4337640"/>
                <a:gd name="textAreaBottom" fmla="*/ 4338000 h 4337640"/>
              </a:gdLst>
              <a:ahLst/>
              <a:cxnLst/>
              <a:rect l="textAreaLeft" t="textAreaTop" r="textAreaRight" b="textAreaBottom"/>
              <a:pathLst>
                <a:path w="7543674" h="5784088">
                  <a:moveTo>
                    <a:pt x="0" y="964057"/>
                  </a:moveTo>
                  <a:cubicBezTo>
                    <a:pt x="0" y="431546"/>
                    <a:pt x="431546" y="0"/>
                    <a:pt x="964057" y="0"/>
                  </a:cubicBezTo>
                  <a:lnTo>
                    <a:pt x="6579616" y="0"/>
                  </a:lnTo>
                  <a:cubicBezTo>
                    <a:pt x="7112000" y="0"/>
                    <a:pt x="7543674" y="431546"/>
                    <a:pt x="7543674" y="964057"/>
                  </a:cubicBezTo>
                  <a:lnTo>
                    <a:pt x="7543674" y="4820031"/>
                  </a:lnTo>
                  <a:cubicBezTo>
                    <a:pt x="7543674" y="5352415"/>
                    <a:pt x="7112127" y="5784088"/>
                    <a:pt x="6579616" y="5784088"/>
                  </a:cubicBezTo>
                  <a:lnTo>
                    <a:pt x="964057" y="5784088"/>
                  </a:lnTo>
                  <a:cubicBezTo>
                    <a:pt x="431546" y="5783961"/>
                    <a:pt x="0" y="5352415"/>
                    <a:pt x="0" y="4820031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TextBox 7"/>
            <p:cNvSpPr/>
            <p:nvPr/>
          </p:nvSpPr>
          <p:spPr>
            <a:xfrm>
              <a:off x="981360" y="2493360"/>
              <a:ext cx="5657400" cy="43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561"/>
                </a:lnSpc>
              </a:pPr>
              <a:r>
                <a:rPr lang="en-US" sz="3800" b="1" i="1" u="none" strike="noStrike">
                  <a:solidFill>
                    <a:srgbClr val="000000"/>
                  </a:solidFill>
                  <a:effectLst/>
                  <a:uFillTx/>
                  <a:latin typeface="Arial Bold Italics"/>
                  <a:ea typeface="Arial Bold Italics"/>
                </a:rPr>
                <a:t>print </a:t>
              </a:r>
              <a:r>
                <a:rPr lang="en-US" sz="3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mostra o valor na tela </a:t>
              </a:r>
              <a:endParaRPr lang="en-US" sz="3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8" name="Group 8"/>
          <p:cNvGrpSpPr/>
          <p:nvPr/>
        </p:nvGrpSpPr>
        <p:grpSpPr>
          <a:xfrm>
            <a:off x="10849680" y="2493360"/>
            <a:ext cx="5657400" cy="4352040"/>
            <a:chOff x="10849680" y="2493360"/>
            <a:chExt cx="5657400" cy="4352040"/>
          </a:xfrm>
        </p:grpSpPr>
        <p:sp>
          <p:nvSpPr>
            <p:cNvPr id="199" name="Freeform 9"/>
            <p:cNvSpPr/>
            <p:nvPr/>
          </p:nvSpPr>
          <p:spPr>
            <a:xfrm>
              <a:off x="10849680" y="2507760"/>
              <a:ext cx="5657400" cy="4337640"/>
            </a:xfrm>
            <a:custGeom>
              <a:avLst/>
              <a:gdLst>
                <a:gd name="textAreaLeft" fmla="*/ 0 w 5657400"/>
                <a:gd name="textAreaRight" fmla="*/ 5657760 w 5657400"/>
                <a:gd name="textAreaTop" fmla="*/ 0 h 4337640"/>
                <a:gd name="textAreaBottom" fmla="*/ 4338000 h 4337640"/>
              </a:gdLst>
              <a:ahLst/>
              <a:cxnLst/>
              <a:rect l="textAreaLeft" t="textAreaTop" r="textAreaRight" b="textAreaBottom"/>
              <a:pathLst>
                <a:path w="7543674" h="5784088">
                  <a:moveTo>
                    <a:pt x="0" y="964057"/>
                  </a:moveTo>
                  <a:cubicBezTo>
                    <a:pt x="0" y="431546"/>
                    <a:pt x="431546" y="0"/>
                    <a:pt x="964057" y="0"/>
                  </a:cubicBezTo>
                  <a:lnTo>
                    <a:pt x="6579616" y="0"/>
                  </a:lnTo>
                  <a:cubicBezTo>
                    <a:pt x="7112000" y="0"/>
                    <a:pt x="7543674" y="431546"/>
                    <a:pt x="7543674" y="964057"/>
                  </a:cubicBezTo>
                  <a:lnTo>
                    <a:pt x="7543674" y="4820031"/>
                  </a:lnTo>
                  <a:cubicBezTo>
                    <a:pt x="7543674" y="5352415"/>
                    <a:pt x="7112127" y="5784088"/>
                    <a:pt x="6579616" y="5784088"/>
                  </a:cubicBezTo>
                  <a:lnTo>
                    <a:pt x="964057" y="5784088"/>
                  </a:lnTo>
                  <a:cubicBezTo>
                    <a:pt x="431546" y="5783961"/>
                    <a:pt x="0" y="5352415"/>
                    <a:pt x="0" y="4820031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TextBox 10"/>
            <p:cNvSpPr/>
            <p:nvPr/>
          </p:nvSpPr>
          <p:spPr>
            <a:xfrm>
              <a:off x="10849680" y="2493360"/>
              <a:ext cx="5657400" cy="43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561"/>
                </a:lnSpc>
              </a:pPr>
              <a:r>
                <a:rPr lang="en-US" sz="3800" b="1" i="1" u="none" strike="noStrike">
                  <a:solidFill>
                    <a:srgbClr val="000000"/>
                  </a:solidFill>
                  <a:effectLst/>
                  <a:uFillTx/>
                  <a:latin typeface="Arial Bold Italics"/>
                  <a:ea typeface="Arial Bold Italics"/>
                </a:rPr>
                <a:t>return </a:t>
              </a:r>
              <a:r>
                <a:rPr lang="en-US" sz="3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entrega o valor para quem chamou a função </a:t>
              </a:r>
              <a:endParaRPr lang="en-US" sz="3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1" name="Group 11"/>
          <p:cNvGrpSpPr/>
          <p:nvPr/>
        </p:nvGrpSpPr>
        <p:grpSpPr>
          <a:xfrm>
            <a:off x="7816320" y="3752640"/>
            <a:ext cx="1856160" cy="1848240"/>
            <a:chOff x="7816320" y="3752640"/>
            <a:chExt cx="1856160" cy="1848240"/>
          </a:xfrm>
        </p:grpSpPr>
        <p:sp>
          <p:nvSpPr>
            <p:cNvPr id="202" name="Freeform 12"/>
            <p:cNvSpPr/>
            <p:nvPr/>
          </p:nvSpPr>
          <p:spPr>
            <a:xfrm>
              <a:off x="7816320" y="3752640"/>
              <a:ext cx="1856160" cy="1848240"/>
            </a:xfrm>
            <a:custGeom>
              <a:avLst/>
              <a:gdLst>
                <a:gd name="textAreaLeft" fmla="*/ 0 w 1856160"/>
                <a:gd name="textAreaRight" fmla="*/ 1856520 w 1856160"/>
                <a:gd name="textAreaTop" fmla="*/ 0 h 1848240"/>
                <a:gd name="textAreaBottom" fmla="*/ 1848600 h 1848240"/>
              </a:gdLst>
              <a:ahLst/>
              <a:cxnLst/>
              <a:rect l="textAreaLeft" t="textAreaTop" r="textAreaRight" b="textAreaBottom"/>
              <a:pathLst>
                <a:path w="2475484" h="2464562">
                  <a:moveTo>
                    <a:pt x="0" y="599440"/>
                  </a:moveTo>
                  <a:lnTo>
                    <a:pt x="594360" y="0"/>
                  </a:lnTo>
                  <a:lnTo>
                    <a:pt x="1237742" y="637921"/>
                  </a:lnTo>
                  <a:lnTo>
                    <a:pt x="1881124" y="0"/>
                  </a:lnTo>
                  <a:lnTo>
                    <a:pt x="2475484" y="599440"/>
                  </a:lnTo>
                  <a:lnTo>
                    <a:pt x="1837182" y="1232281"/>
                  </a:lnTo>
                  <a:lnTo>
                    <a:pt x="2475484" y="1865122"/>
                  </a:lnTo>
                  <a:lnTo>
                    <a:pt x="1881124" y="2464562"/>
                  </a:lnTo>
                  <a:lnTo>
                    <a:pt x="1237742" y="1826641"/>
                  </a:lnTo>
                  <a:lnTo>
                    <a:pt x="594360" y="2464562"/>
                  </a:lnTo>
                  <a:lnTo>
                    <a:pt x="0" y="1865122"/>
                  </a:lnTo>
                  <a:lnTo>
                    <a:pt x="638302" y="1232281"/>
                  </a:ln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2"/>
          <p:cNvSpPr/>
          <p:nvPr/>
        </p:nvSpPr>
        <p:spPr>
          <a:xfrm>
            <a:off x="91440" y="481320"/>
            <a:ext cx="18104040" cy="9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239"/>
              </a:lnSpc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IA amplifica a base que já existe 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3"/>
          <p:cNvSpPr/>
          <p:nvPr/>
        </p:nvSpPr>
        <p:spPr>
          <a:xfrm>
            <a:off x="91440" y="8296200"/>
            <a:ext cx="181040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841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69 iniciantes de 10 a 17 anos · 45 tarefas de Python · metade com acesso ao Codex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91440" y="9536760"/>
            <a:ext cx="58158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16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Fonte: Kazemitabaar et al. (2023)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6" name="Group 5"/>
          <p:cNvGrpSpPr/>
          <p:nvPr/>
        </p:nvGrpSpPr>
        <p:grpSpPr>
          <a:xfrm>
            <a:off x="524160" y="2058480"/>
            <a:ext cx="5657400" cy="5792040"/>
            <a:chOff x="524160" y="2058480"/>
            <a:chExt cx="5657400" cy="5792040"/>
          </a:xfrm>
        </p:grpSpPr>
        <p:sp>
          <p:nvSpPr>
            <p:cNvPr id="207" name="Freeform 6"/>
            <p:cNvSpPr/>
            <p:nvPr/>
          </p:nvSpPr>
          <p:spPr>
            <a:xfrm>
              <a:off x="524160" y="2072880"/>
              <a:ext cx="5657400" cy="5777640"/>
            </a:xfrm>
            <a:custGeom>
              <a:avLst/>
              <a:gdLst>
                <a:gd name="textAreaLeft" fmla="*/ 0 w 5657400"/>
                <a:gd name="textAreaRight" fmla="*/ 5657760 w 5657400"/>
                <a:gd name="textAreaTop" fmla="*/ 0 h 5777640"/>
                <a:gd name="textAreaBottom" fmla="*/ 5778000 h 5777640"/>
              </a:gdLst>
              <a:ahLst/>
              <a:cxnLst/>
              <a:rect l="textAreaLeft" t="textAreaTop" r="textAreaRight" b="textAreaBottom"/>
              <a:pathLst>
                <a:path w="7543673" h="7703947">
                  <a:moveTo>
                    <a:pt x="0" y="1257300"/>
                  </a:moveTo>
                  <a:cubicBezTo>
                    <a:pt x="0" y="562864"/>
                    <a:pt x="562864" y="0"/>
                    <a:pt x="1257300" y="0"/>
                  </a:cubicBezTo>
                  <a:lnTo>
                    <a:pt x="6286373" y="0"/>
                  </a:lnTo>
                  <a:cubicBezTo>
                    <a:pt x="6980809" y="0"/>
                    <a:pt x="7543673" y="562864"/>
                    <a:pt x="7543673" y="1257300"/>
                  </a:cubicBezTo>
                  <a:lnTo>
                    <a:pt x="7543673" y="6446647"/>
                  </a:lnTo>
                  <a:cubicBezTo>
                    <a:pt x="7543673" y="7141083"/>
                    <a:pt x="6980809" y="7703947"/>
                    <a:pt x="6286373" y="7703947"/>
                  </a:cubicBezTo>
                  <a:lnTo>
                    <a:pt x="1257300" y="7703947"/>
                  </a:lnTo>
                  <a:cubicBezTo>
                    <a:pt x="562864" y="7703947"/>
                    <a:pt x="0" y="7141083"/>
                    <a:pt x="0" y="6446647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TextBox 7"/>
            <p:cNvSpPr/>
            <p:nvPr/>
          </p:nvSpPr>
          <p:spPr>
            <a:xfrm>
              <a:off x="524160" y="2058480"/>
              <a:ext cx="5657400" cy="579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079"/>
                </a:lnSpc>
              </a:pPr>
              <a:r>
                <a:rPr lang="en-US" sz="3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1,15x taxa de conclusão de quem usou o Codex </a:t>
              </a:r>
              <a:endParaRPr lang="en-US" sz="3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9" name="Group 8"/>
          <p:cNvGrpSpPr/>
          <p:nvPr/>
        </p:nvGrpSpPr>
        <p:grpSpPr>
          <a:xfrm>
            <a:off x="6491520" y="2058480"/>
            <a:ext cx="5657400" cy="5792040"/>
            <a:chOff x="6491520" y="2058480"/>
            <a:chExt cx="5657400" cy="5792040"/>
          </a:xfrm>
        </p:grpSpPr>
        <p:sp>
          <p:nvSpPr>
            <p:cNvPr id="210" name="Freeform 9"/>
            <p:cNvSpPr/>
            <p:nvPr/>
          </p:nvSpPr>
          <p:spPr>
            <a:xfrm>
              <a:off x="6491520" y="2072880"/>
              <a:ext cx="5657400" cy="5777640"/>
            </a:xfrm>
            <a:custGeom>
              <a:avLst/>
              <a:gdLst>
                <a:gd name="textAreaLeft" fmla="*/ 0 w 5657400"/>
                <a:gd name="textAreaRight" fmla="*/ 5657760 w 5657400"/>
                <a:gd name="textAreaTop" fmla="*/ 0 h 5777640"/>
                <a:gd name="textAreaBottom" fmla="*/ 5778000 h 5777640"/>
              </a:gdLst>
              <a:ahLst/>
              <a:cxnLst/>
              <a:rect l="textAreaLeft" t="textAreaTop" r="textAreaRight" b="textAreaBottom"/>
              <a:pathLst>
                <a:path w="7543673" h="7703947">
                  <a:moveTo>
                    <a:pt x="0" y="1257300"/>
                  </a:moveTo>
                  <a:cubicBezTo>
                    <a:pt x="0" y="562864"/>
                    <a:pt x="562864" y="0"/>
                    <a:pt x="1257300" y="0"/>
                  </a:cubicBezTo>
                  <a:lnTo>
                    <a:pt x="6286373" y="0"/>
                  </a:lnTo>
                  <a:cubicBezTo>
                    <a:pt x="6980809" y="0"/>
                    <a:pt x="7543673" y="562864"/>
                    <a:pt x="7543673" y="1257300"/>
                  </a:cubicBezTo>
                  <a:lnTo>
                    <a:pt x="7543673" y="6446647"/>
                  </a:lnTo>
                  <a:cubicBezTo>
                    <a:pt x="7543673" y="7141083"/>
                    <a:pt x="6980809" y="7703947"/>
                    <a:pt x="6286373" y="7703947"/>
                  </a:cubicBezTo>
                  <a:lnTo>
                    <a:pt x="1257300" y="7703947"/>
                  </a:lnTo>
                  <a:cubicBezTo>
                    <a:pt x="562864" y="7703947"/>
                    <a:pt x="0" y="7141083"/>
                    <a:pt x="0" y="6446647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10"/>
            <p:cNvSpPr/>
            <p:nvPr/>
          </p:nvSpPr>
          <p:spPr>
            <a:xfrm>
              <a:off x="6491520" y="2058480"/>
              <a:ext cx="5657400" cy="579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079"/>
                </a:lnSpc>
              </a:pPr>
              <a:r>
                <a:rPr lang="en-US" sz="3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1,8x notas nas tarefas de quem usou o Codex </a:t>
              </a:r>
              <a:endParaRPr lang="en-US" sz="3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2" name="Group 11"/>
          <p:cNvGrpSpPr/>
          <p:nvPr/>
        </p:nvGrpSpPr>
        <p:grpSpPr>
          <a:xfrm>
            <a:off x="12458880" y="2058480"/>
            <a:ext cx="5657400" cy="5792040"/>
            <a:chOff x="12458880" y="2058480"/>
            <a:chExt cx="5657400" cy="5792040"/>
          </a:xfrm>
        </p:grpSpPr>
        <p:sp>
          <p:nvSpPr>
            <p:cNvPr id="213" name="Freeform 12"/>
            <p:cNvSpPr/>
            <p:nvPr/>
          </p:nvSpPr>
          <p:spPr>
            <a:xfrm>
              <a:off x="12458880" y="2072880"/>
              <a:ext cx="5657400" cy="5777640"/>
            </a:xfrm>
            <a:custGeom>
              <a:avLst/>
              <a:gdLst>
                <a:gd name="textAreaLeft" fmla="*/ 0 w 5657400"/>
                <a:gd name="textAreaRight" fmla="*/ 5657760 w 5657400"/>
                <a:gd name="textAreaTop" fmla="*/ 0 h 5777640"/>
                <a:gd name="textAreaBottom" fmla="*/ 5778000 h 5777640"/>
              </a:gdLst>
              <a:ahLst/>
              <a:cxnLst/>
              <a:rect l="textAreaLeft" t="textAreaTop" r="textAreaRight" b="textAreaBottom"/>
              <a:pathLst>
                <a:path w="7543673" h="7703947">
                  <a:moveTo>
                    <a:pt x="0" y="1257300"/>
                  </a:moveTo>
                  <a:cubicBezTo>
                    <a:pt x="0" y="562864"/>
                    <a:pt x="562864" y="0"/>
                    <a:pt x="1257300" y="0"/>
                  </a:cubicBezTo>
                  <a:lnTo>
                    <a:pt x="6286373" y="0"/>
                  </a:lnTo>
                  <a:cubicBezTo>
                    <a:pt x="6980809" y="0"/>
                    <a:pt x="7543673" y="562864"/>
                    <a:pt x="7543673" y="1257300"/>
                  </a:cubicBezTo>
                  <a:lnTo>
                    <a:pt x="7543673" y="6446647"/>
                  </a:lnTo>
                  <a:cubicBezTo>
                    <a:pt x="7543673" y="7141083"/>
                    <a:pt x="6980809" y="7703947"/>
                    <a:pt x="6286373" y="7703947"/>
                  </a:cubicBezTo>
                  <a:lnTo>
                    <a:pt x="1257300" y="7703947"/>
                  </a:lnTo>
                  <a:cubicBezTo>
                    <a:pt x="562864" y="7703947"/>
                    <a:pt x="0" y="7141083"/>
                    <a:pt x="0" y="6446647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TextBox 13"/>
            <p:cNvSpPr/>
            <p:nvPr/>
          </p:nvSpPr>
          <p:spPr>
            <a:xfrm>
              <a:off x="12458880" y="2058480"/>
              <a:ext cx="5657400" cy="579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079"/>
                </a:lnSpc>
              </a:pPr>
              <a:r>
                <a:rPr lang="en-US" sz="3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Quem já tinha base ganhou mais Entre os de maior nota no pré-teste, quem usou o Codex foi melhor no teste de retenção, uma semana depois. </a:t>
              </a:r>
              <a:endParaRPr lang="en-US" sz="3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 2"/>
          <p:cNvSpPr/>
          <p:nvPr/>
        </p:nvSpPr>
        <p:spPr>
          <a:xfrm>
            <a:off x="91440" y="72360"/>
            <a:ext cx="18104040" cy="9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239"/>
              </a:lnSpc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Uma ideia cabe em uma frase 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3"/>
          <p:cNvSpPr/>
          <p:nvPr/>
        </p:nvSpPr>
        <p:spPr>
          <a:xfrm>
            <a:off x="4938480" y="1778400"/>
            <a:ext cx="840996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799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“Um PDV que emite nota fiscal.”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4"/>
          <p:cNvSpPr/>
          <p:nvPr/>
        </p:nvSpPr>
        <p:spPr>
          <a:xfrm>
            <a:off x="91440" y="7803720"/>
            <a:ext cx="181040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841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São itens de configuração: só entram sob controle se alguém souber que existem.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8" name="Group 5"/>
          <p:cNvGrpSpPr/>
          <p:nvPr/>
        </p:nvGrpSpPr>
        <p:grpSpPr>
          <a:xfrm>
            <a:off x="494640" y="3176640"/>
            <a:ext cx="5657400" cy="3594600"/>
            <a:chOff x="494640" y="3176640"/>
            <a:chExt cx="5657400" cy="3594600"/>
          </a:xfrm>
        </p:grpSpPr>
        <p:sp>
          <p:nvSpPr>
            <p:cNvPr id="219" name="Freeform 6"/>
            <p:cNvSpPr/>
            <p:nvPr/>
          </p:nvSpPr>
          <p:spPr>
            <a:xfrm>
              <a:off x="494640" y="3198240"/>
              <a:ext cx="5657400" cy="3573000"/>
            </a:xfrm>
            <a:custGeom>
              <a:avLst/>
              <a:gdLst>
                <a:gd name="textAreaLeft" fmla="*/ 0 w 5657400"/>
                <a:gd name="textAreaRight" fmla="*/ 5657760 w 56574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7543673" h="4764532">
                  <a:moveTo>
                    <a:pt x="0" y="794131"/>
                  </a:moveTo>
                  <a:cubicBezTo>
                    <a:pt x="0" y="355473"/>
                    <a:pt x="355473" y="0"/>
                    <a:pt x="794131" y="0"/>
                  </a:cubicBezTo>
                  <a:lnTo>
                    <a:pt x="6749542" y="0"/>
                  </a:lnTo>
                  <a:cubicBezTo>
                    <a:pt x="7188200" y="0"/>
                    <a:pt x="7543673" y="355473"/>
                    <a:pt x="7543673" y="794131"/>
                  </a:cubicBezTo>
                  <a:lnTo>
                    <a:pt x="7543673" y="3970401"/>
                  </a:lnTo>
                  <a:cubicBezTo>
                    <a:pt x="7543673" y="4408932"/>
                    <a:pt x="7188200" y="4764532"/>
                    <a:pt x="6749542" y="4764532"/>
                  </a:cubicBezTo>
                  <a:lnTo>
                    <a:pt x="794131" y="4764532"/>
                  </a:lnTo>
                  <a:cubicBezTo>
                    <a:pt x="355473" y="4764532"/>
                    <a:pt x="0" y="4408932"/>
                    <a:pt x="0" y="3970401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TextBox 7"/>
            <p:cNvSpPr/>
            <p:nvPr/>
          </p:nvSpPr>
          <p:spPr>
            <a:xfrm>
              <a:off x="494640" y="3176640"/>
              <a:ext cx="5657400" cy="3594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320"/>
                </a:lnSpc>
              </a:pPr>
              <a:r>
                <a:rPr lang="en-US" sz="360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SEFAZ fora do ar o que o caixa faz em contingência? 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1" name="Group 8"/>
          <p:cNvGrpSpPr/>
          <p:nvPr/>
        </p:nvGrpSpPr>
        <p:grpSpPr>
          <a:xfrm>
            <a:off x="6314400" y="3176640"/>
            <a:ext cx="5657400" cy="3594600"/>
            <a:chOff x="6314400" y="3176640"/>
            <a:chExt cx="5657400" cy="3594600"/>
          </a:xfrm>
        </p:grpSpPr>
        <p:sp>
          <p:nvSpPr>
            <p:cNvPr id="222" name="Freeform 9"/>
            <p:cNvSpPr/>
            <p:nvPr/>
          </p:nvSpPr>
          <p:spPr>
            <a:xfrm>
              <a:off x="6314400" y="3198240"/>
              <a:ext cx="5657400" cy="3573000"/>
            </a:xfrm>
            <a:custGeom>
              <a:avLst/>
              <a:gdLst>
                <a:gd name="textAreaLeft" fmla="*/ 0 w 5657400"/>
                <a:gd name="textAreaRight" fmla="*/ 5657760 w 56574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7543673" h="4764532">
                  <a:moveTo>
                    <a:pt x="0" y="794131"/>
                  </a:moveTo>
                  <a:cubicBezTo>
                    <a:pt x="0" y="355473"/>
                    <a:pt x="355473" y="0"/>
                    <a:pt x="794131" y="0"/>
                  </a:cubicBezTo>
                  <a:lnTo>
                    <a:pt x="6749542" y="0"/>
                  </a:lnTo>
                  <a:cubicBezTo>
                    <a:pt x="7188200" y="0"/>
                    <a:pt x="7543673" y="355473"/>
                    <a:pt x="7543673" y="794131"/>
                  </a:cubicBezTo>
                  <a:lnTo>
                    <a:pt x="7543673" y="3970401"/>
                  </a:lnTo>
                  <a:cubicBezTo>
                    <a:pt x="7543673" y="4408932"/>
                    <a:pt x="7188200" y="4764532"/>
                    <a:pt x="6749542" y="4764532"/>
                  </a:cubicBezTo>
                  <a:lnTo>
                    <a:pt x="794131" y="4764532"/>
                  </a:lnTo>
                  <a:cubicBezTo>
                    <a:pt x="355473" y="4764532"/>
                    <a:pt x="0" y="4408932"/>
                    <a:pt x="0" y="3970401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TextBox 10"/>
            <p:cNvSpPr/>
            <p:nvPr/>
          </p:nvSpPr>
          <p:spPr>
            <a:xfrm>
              <a:off x="6314400" y="3176640"/>
              <a:ext cx="5657400" cy="3594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320"/>
                </a:lnSpc>
              </a:pPr>
              <a:r>
                <a:rPr lang="en-US" sz="360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O último item dois terminais vendem ao mesmo tempo 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4" name="Group 11"/>
          <p:cNvGrpSpPr/>
          <p:nvPr/>
        </p:nvGrpSpPr>
        <p:grpSpPr>
          <a:xfrm>
            <a:off x="12134880" y="3176640"/>
            <a:ext cx="5657400" cy="3594600"/>
            <a:chOff x="12134880" y="3176640"/>
            <a:chExt cx="5657400" cy="3594600"/>
          </a:xfrm>
        </p:grpSpPr>
        <p:sp>
          <p:nvSpPr>
            <p:cNvPr id="225" name="Freeform 12"/>
            <p:cNvSpPr/>
            <p:nvPr/>
          </p:nvSpPr>
          <p:spPr>
            <a:xfrm>
              <a:off x="12134880" y="3198240"/>
              <a:ext cx="5657400" cy="3573000"/>
            </a:xfrm>
            <a:custGeom>
              <a:avLst/>
              <a:gdLst>
                <a:gd name="textAreaLeft" fmla="*/ 0 w 5657400"/>
                <a:gd name="textAreaRight" fmla="*/ 5657760 w 56574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7543673" h="4764532">
                  <a:moveTo>
                    <a:pt x="0" y="794131"/>
                  </a:moveTo>
                  <a:cubicBezTo>
                    <a:pt x="0" y="355473"/>
                    <a:pt x="355473" y="0"/>
                    <a:pt x="794131" y="0"/>
                  </a:cubicBezTo>
                  <a:lnTo>
                    <a:pt x="6749542" y="0"/>
                  </a:lnTo>
                  <a:cubicBezTo>
                    <a:pt x="7188200" y="0"/>
                    <a:pt x="7543673" y="355473"/>
                    <a:pt x="7543673" y="794131"/>
                  </a:cubicBezTo>
                  <a:lnTo>
                    <a:pt x="7543673" y="3970401"/>
                  </a:lnTo>
                  <a:cubicBezTo>
                    <a:pt x="7543673" y="4408932"/>
                    <a:pt x="7188200" y="4764532"/>
                    <a:pt x="6749542" y="4764532"/>
                  </a:cubicBezTo>
                  <a:lnTo>
                    <a:pt x="794131" y="4764532"/>
                  </a:lnTo>
                  <a:cubicBezTo>
                    <a:pt x="355473" y="4764532"/>
                    <a:pt x="0" y="4408932"/>
                    <a:pt x="0" y="3970401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TextBox 13"/>
            <p:cNvSpPr/>
            <p:nvPr/>
          </p:nvSpPr>
          <p:spPr>
            <a:xfrm>
              <a:off x="12134880" y="3176640"/>
              <a:ext cx="5657400" cy="3594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4320"/>
                </a:lnSpc>
              </a:pPr>
              <a:r>
                <a:rPr lang="en-US" sz="3600" b="1" u="none" strike="noStrike">
                  <a:solidFill>
                    <a:srgbClr val="000000"/>
                  </a:solidFill>
                  <a:effectLst/>
                  <a:uFillTx/>
                  <a:latin typeface="Arial Bold"/>
                  <a:ea typeface="Arial Bold"/>
                </a:rPr>
                <a:t>Certificado digital onde fica e quando vence? 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Box 2"/>
          <p:cNvSpPr/>
          <p:nvPr/>
        </p:nvSpPr>
        <p:spPr>
          <a:xfrm>
            <a:off x="91440" y="748440"/>
            <a:ext cx="18104040" cy="9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239"/>
              </a:lnSpc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que os dados não dizem 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8" name="Group 3"/>
          <p:cNvGrpSpPr/>
          <p:nvPr/>
        </p:nvGrpSpPr>
        <p:grpSpPr>
          <a:xfrm>
            <a:off x="387360" y="3004560"/>
            <a:ext cx="5777640" cy="5799240"/>
            <a:chOff x="387360" y="3004560"/>
            <a:chExt cx="5777640" cy="5799240"/>
          </a:xfrm>
        </p:grpSpPr>
        <p:sp>
          <p:nvSpPr>
            <p:cNvPr id="229" name="Freeform 4"/>
            <p:cNvSpPr/>
            <p:nvPr/>
          </p:nvSpPr>
          <p:spPr>
            <a:xfrm>
              <a:off x="387360" y="3026160"/>
              <a:ext cx="5777640" cy="5777640"/>
            </a:xfrm>
            <a:custGeom>
              <a:avLst/>
              <a:gdLst>
                <a:gd name="textAreaLeft" fmla="*/ 0 w 5777640"/>
                <a:gd name="textAreaRight" fmla="*/ 5778000 w 5777640"/>
                <a:gd name="textAreaTop" fmla="*/ 0 h 5777640"/>
                <a:gd name="textAreaBottom" fmla="*/ 5778000 h 5777640"/>
              </a:gdLst>
              <a:ahLst/>
              <a:cxnLst/>
              <a:rect l="textAreaLeft" t="textAreaTop" r="textAreaRight" b="textAreaBottom"/>
              <a:pathLst>
                <a:path w="7703947" h="7703947">
                  <a:moveTo>
                    <a:pt x="0" y="1283970"/>
                  </a:moveTo>
                  <a:cubicBezTo>
                    <a:pt x="0" y="574929"/>
                    <a:pt x="574929" y="0"/>
                    <a:pt x="1283970" y="0"/>
                  </a:cubicBezTo>
                  <a:lnTo>
                    <a:pt x="6419977" y="0"/>
                  </a:lnTo>
                  <a:cubicBezTo>
                    <a:pt x="7129145" y="0"/>
                    <a:pt x="7703947" y="574929"/>
                    <a:pt x="7703947" y="1283970"/>
                  </a:cubicBezTo>
                  <a:lnTo>
                    <a:pt x="7703947" y="6419977"/>
                  </a:lnTo>
                  <a:cubicBezTo>
                    <a:pt x="7703947" y="7129145"/>
                    <a:pt x="7129018" y="7703947"/>
                    <a:pt x="6419977" y="7703947"/>
                  </a:cubicBezTo>
                  <a:lnTo>
                    <a:pt x="1283970" y="7703947"/>
                  </a:lnTo>
                  <a:cubicBezTo>
                    <a:pt x="574929" y="7703947"/>
                    <a:pt x="0" y="7129145"/>
                    <a:pt x="0" y="6419977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TextBox 5"/>
            <p:cNvSpPr/>
            <p:nvPr/>
          </p:nvSpPr>
          <p:spPr>
            <a:xfrm>
              <a:off x="387360" y="3004560"/>
              <a:ext cx="5777640" cy="579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841"/>
                </a:lnSpc>
              </a:pPr>
              <a:r>
                <a:rPr lang="en-US" sz="3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Correlação, não causa O estudo é transversal: computação prevê o desempenho, mas não prova que seja obrigatória. 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1" name="Group 6"/>
          <p:cNvGrpSpPr/>
          <p:nvPr/>
        </p:nvGrpSpPr>
        <p:grpSpPr>
          <a:xfrm>
            <a:off x="6254640" y="3004560"/>
            <a:ext cx="5777640" cy="5799240"/>
            <a:chOff x="6254640" y="3004560"/>
            <a:chExt cx="5777640" cy="5799240"/>
          </a:xfrm>
        </p:grpSpPr>
        <p:sp>
          <p:nvSpPr>
            <p:cNvPr id="232" name="Freeform 7"/>
            <p:cNvSpPr/>
            <p:nvPr/>
          </p:nvSpPr>
          <p:spPr>
            <a:xfrm>
              <a:off x="6254640" y="3026160"/>
              <a:ext cx="5777640" cy="5777640"/>
            </a:xfrm>
            <a:custGeom>
              <a:avLst/>
              <a:gdLst>
                <a:gd name="textAreaLeft" fmla="*/ 0 w 5777640"/>
                <a:gd name="textAreaRight" fmla="*/ 5778000 w 5777640"/>
                <a:gd name="textAreaTop" fmla="*/ 0 h 5777640"/>
                <a:gd name="textAreaBottom" fmla="*/ 5778000 h 5777640"/>
              </a:gdLst>
              <a:ahLst/>
              <a:cxnLst/>
              <a:rect l="textAreaLeft" t="textAreaTop" r="textAreaRight" b="textAreaBottom"/>
              <a:pathLst>
                <a:path w="7703947" h="7703947">
                  <a:moveTo>
                    <a:pt x="0" y="1283970"/>
                  </a:moveTo>
                  <a:cubicBezTo>
                    <a:pt x="0" y="574929"/>
                    <a:pt x="574929" y="0"/>
                    <a:pt x="1283970" y="0"/>
                  </a:cubicBezTo>
                  <a:lnTo>
                    <a:pt x="6419977" y="0"/>
                  </a:lnTo>
                  <a:cubicBezTo>
                    <a:pt x="7129145" y="0"/>
                    <a:pt x="7703947" y="574929"/>
                    <a:pt x="7703947" y="1283970"/>
                  </a:cubicBezTo>
                  <a:lnTo>
                    <a:pt x="7703947" y="6419977"/>
                  </a:lnTo>
                  <a:cubicBezTo>
                    <a:pt x="7703947" y="7129145"/>
                    <a:pt x="7129018" y="7703947"/>
                    <a:pt x="6419977" y="7703947"/>
                  </a:cubicBezTo>
                  <a:lnTo>
                    <a:pt x="1283970" y="7703947"/>
                  </a:lnTo>
                  <a:cubicBezTo>
                    <a:pt x="574929" y="7703947"/>
                    <a:pt x="0" y="7129145"/>
                    <a:pt x="0" y="6419977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TextBox 8"/>
            <p:cNvSpPr/>
            <p:nvPr/>
          </p:nvSpPr>
          <p:spPr>
            <a:xfrm>
              <a:off x="6254640" y="3004560"/>
              <a:ext cx="5777640" cy="579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841"/>
                </a:lnSpc>
              </a:pPr>
              <a:r>
                <a:rPr lang="en-US" sz="3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 escrita também conta Explica 5,9% da variância sozinha e quase não se relaciona com computação (r = 0,126). 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" name="Group 9"/>
          <p:cNvGrpSpPr/>
          <p:nvPr/>
        </p:nvGrpSpPr>
        <p:grpSpPr>
          <a:xfrm>
            <a:off x="12121920" y="3004560"/>
            <a:ext cx="5777640" cy="5799240"/>
            <a:chOff x="12121920" y="3004560"/>
            <a:chExt cx="5777640" cy="5799240"/>
          </a:xfrm>
        </p:grpSpPr>
        <p:sp>
          <p:nvSpPr>
            <p:cNvPr id="235" name="Freeform 10"/>
            <p:cNvSpPr/>
            <p:nvPr/>
          </p:nvSpPr>
          <p:spPr>
            <a:xfrm>
              <a:off x="12121920" y="3026160"/>
              <a:ext cx="5777640" cy="5777640"/>
            </a:xfrm>
            <a:custGeom>
              <a:avLst/>
              <a:gdLst>
                <a:gd name="textAreaLeft" fmla="*/ 0 w 5777640"/>
                <a:gd name="textAreaRight" fmla="*/ 5778000 w 5777640"/>
                <a:gd name="textAreaTop" fmla="*/ 0 h 5777640"/>
                <a:gd name="textAreaBottom" fmla="*/ 5778000 h 5777640"/>
              </a:gdLst>
              <a:ahLst/>
              <a:cxnLst/>
              <a:rect l="textAreaLeft" t="textAreaTop" r="textAreaRight" b="textAreaBottom"/>
              <a:pathLst>
                <a:path w="7703947" h="7703947">
                  <a:moveTo>
                    <a:pt x="0" y="1283970"/>
                  </a:moveTo>
                  <a:cubicBezTo>
                    <a:pt x="0" y="574929"/>
                    <a:pt x="574929" y="0"/>
                    <a:pt x="1283970" y="0"/>
                  </a:cubicBezTo>
                  <a:lnTo>
                    <a:pt x="6419977" y="0"/>
                  </a:lnTo>
                  <a:cubicBezTo>
                    <a:pt x="7129145" y="0"/>
                    <a:pt x="7703947" y="574929"/>
                    <a:pt x="7703947" y="1283970"/>
                  </a:cubicBezTo>
                  <a:lnTo>
                    <a:pt x="7703947" y="6419977"/>
                  </a:lnTo>
                  <a:cubicBezTo>
                    <a:pt x="7703947" y="7129145"/>
                    <a:pt x="7129018" y="7703947"/>
                    <a:pt x="6419977" y="7703947"/>
                  </a:cubicBezTo>
                  <a:lnTo>
                    <a:pt x="1283970" y="7703947"/>
                  </a:lnTo>
                  <a:cubicBezTo>
                    <a:pt x="574929" y="7703947"/>
                    <a:pt x="0" y="7129145"/>
                    <a:pt x="0" y="6419977"/>
                  </a:cubicBezTo>
                  <a:close/>
                </a:path>
              </a:pathLst>
            </a:custGeom>
            <a:solidFill>
              <a:srgbClr val="EEEEEE"/>
            </a:solidFill>
            <a:ln cap="sq" w="1872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TextBox 11"/>
            <p:cNvSpPr/>
            <p:nvPr/>
          </p:nvSpPr>
          <p:spPr>
            <a:xfrm>
              <a:off x="12121920" y="3004560"/>
              <a:ext cx="5777640" cy="579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841"/>
                </a:lnSpc>
              </a:pPr>
              <a:r>
                <a:rPr lang="en-US" sz="3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Uso frequente de IA Correlação negativa com o desempenho (r = −0,258). A direção não é conhecida. 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2"/>
          <p:cNvSpPr/>
          <p:nvPr/>
        </p:nvSpPr>
        <p:spPr>
          <a:xfrm>
            <a:off x="91440" y="685800"/>
            <a:ext cx="18104040" cy="9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239"/>
              </a:lnSpc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IA traduz intenção em código. 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3"/>
          <p:cNvSpPr/>
          <p:nvPr/>
        </p:nvSpPr>
        <p:spPr>
          <a:xfrm>
            <a:off x="170640" y="4190760"/>
            <a:ext cx="18104040" cy="18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480"/>
              </a:lnSpc>
            </a:pPr>
            <a:r>
              <a:rPr lang="en-US" sz="5400" b="1" u="none" strike="noStrike">
                <a:solidFill>
                  <a:srgbClr val="000000"/>
                </a:solidFill>
                <a:effectLst/>
                <a:uFillTx/>
                <a:latin typeface="Arial Bold"/>
                <a:ea typeface="Arial Bold"/>
              </a:rPr>
              <a:t>Quem não sabe o que precisa existir não consegue pedir, nem perceber que faltou. 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Box 2"/>
          <p:cNvSpPr/>
          <p:nvPr/>
        </p:nvSpPr>
        <p:spPr>
          <a:xfrm>
            <a:off x="981360" y="3699360"/>
            <a:ext cx="16324200" cy="20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7911"/>
              </a:lnSpc>
            </a:pPr>
            <a:r>
              <a:rPr lang="en-US" sz="6660" b="1" u="none" strike="noStrike">
                <a:solidFill>
                  <a:srgbClr val="000000"/>
                </a:solidFill>
                <a:effectLst/>
                <a:uFillTx/>
                <a:latin typeface="Source Serif Pro Bold"/>
                <a:ea typeface="Source Serif Pro Bold"/>
              </a:rPr>
              <a:t>Se a máquina escreve o código, o que sobra para o humano saber?</a:t>
            </a:r>
            <a:endParaRPr lang="en-US" sz="6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3"/>
          <p:cNvSpPr/>
          <p:nvPr/>
        </p:nvSpPr>
        <p:spPr>
          <a:xfrm>
            <a:off x="1525680" y="5996520"/>
            <a:ext cx="15235560" cy="62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68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Tese: escrever código sempre foi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IBM Plex Sans Bold"/>
                <a:ea typeface="IBM Plex Sans Bold"/>
              </a:rPr>
              <a:t>só uma parte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 da engenharia de software.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4"/>
          <p:cNvSpPr/>
          <p:nvPr/>
        </p:nvSpPr>
        <p:spPr>
          <a:xfrm>
            <a:off x="981360" y="9271440"/>
            <a:ext cx="163242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Fontes: Willison · SWEBOK v4 / SFIA 9 · Thoughtworks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2"/>
          <p:cNvSpPr/>
          <p:nvPr/>
        </p:nvSpPr>
        <p:spPr>
          <a:xfrm>
            <a:off x="1218960" y="1190520"/>
            <a:ext cx="1632420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513"/>
              </a:lnSpc>
            </a:pPr>
            <a:r>
              <a:rPr lang="en-US" sz="4440" b="1" u="none" strike="noStrike">
                <a:solidFill>
                  <a:srgbClr val="000000"/>
                </a:solidFill>
                <a:effectLst/>
                <a:uFillTx/>
                <a:latin typeface="Source Serif Pro Bold"/>
                <a:ea typeface="Source Serif Pro Bold"/>
              </a:rPr>
              <a:t>Nem toda programação com IA é vibe coding</a:t>
            </a:r>
            <a:endParaRPr lang="en-US" sz="4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3" name="Group 3"/>
          <p:cNvGrpSpPr/>
          <p:nvPr/>
        </p:nvGrpSpPr>
        <p:grpSpPr>
          <a:xfrm>
            <a:off x="1218960" y="3415680"/>
            <a:ext cx="7771320" cy="3728520"/>
            <a:chOff x="1218960" y="3415680"/>
            <a:chExt cx="7771320" cy="3728520"/>
          </a:xfrm>
        </p:grpSpPr>
        <p:sp>
          <p:nvSpPr>
            <p:cNvPr id="244" name="Freeform 4"/>
            <p:cNvSpPr/>
            <p:nvPr/>
          </p:nvSpPr>
          <p:spPr>
            <a:xfrm>
              <a:off x="1218960" y="3415680"/>
              <a:ext cx="7771320" cy="3728520"/>
            </a:xfrm>
            <a:custGeom>
              <a:avLst/>
              <a:gdLst>
                <a:gd name="textAreaLeft" fmla="*/ 0 w 7771320"/>
                <a:gd name="textAreaRight" fmla="*/ 7771680 w 7771320"/>
                <a:gd name="textAreaTop" fmla="*/ 0 h 3728520"/>
                <a:gd name="textAreaBottom" fmla="*/ 3728880 h 3728520"/>
              </a:gdLst>
              <a:ahLst/>
              <a:cxnLst/>
              <a:rect l="textAreaLeft" t="textAreaTop" r="textAreaRight" b="textAreaBottom"/>
              <a:pathLst>
                <a:path w="10362311" h="4971923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159111" y="0"/>
                  </a:lnTo>
                  <a:cubicBezTo>
                    <a:pt x="10271252" y="0"/>
                    <a:pt x="10362311" y="90932"/>
                    <a:pt x="10362311" y="203200"/>
                  </a:cubicBezTo>
                  <a:lnTo>
                    <a:pt x="10362311" y="4768723"/>
                  </a:lnTo>
                  <a:cubicBezTo>
                    <a:pt x="10362311" y="4880864"/>
                    <a:pt x="10271379" y="4971923"/>
                    <a:pt x="10159111" y="4971923"/>
                  </a:cubicBezTo>
                  <a:lnTo>
                    <a:pt x="203200" y="4971923"/>
                  </a:lnTo>
                  <a:cubicBezTo>
                    <a:pt x="91059" y="4971923"/>
                    <a:pt x="0" y="4880991"/>
                    <a:pt x="0" y="4768723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5" name="TextBox 5"/>
          <p:cNvSpPr/>
          <p:nvPr/>
        </p:nvSpPr>
        <p:spPr>
          <a:xfrm>
            <a:off x="1676160" y="3787200"/>
            <a:ext cx="70628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A1530C"/>
                </a:solidFill>
                <a:effectLst/>
                <a:uFillTx/>
                <a:latin typeface="IBM Plex Sans"/>
                <a:ea typeface="IBM Plex Sans"/>
              </a:rPr>
              <a:t>KARPATHY, 2025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1676160" y="4316760"/>
            <a:ext cx="70628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320"/>
              </a:lnSpc>
            </a:pPr>
            <a:r>
              <a:rPr lang="en-US" sz="3000" b="1" u="none" strike="noStrike">
                <a:solidFill>
                  <a:srgbClr val="14213D"/>
                </a:solidFill>
                <a:effectLst/>
                <a:uFillTx/>
                <a:latin typeface="IBM Plex Sans Bold"/>
                <a:ea typeface="IBM Plex Sans Bold"/>
              </a:rPr>
              <a:t>Vibe coding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1783440" y="4917240"/>
            <a:ext cx="6944760" cy="18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543960" lvl="1" indent="-271800" defTabSz="914400">
              <a:lnSpc>
                <a:spcPts val="3827"/>
              </a:lnSpc>
              <a:buClr>
                <a:srgbClr val="4A5568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Aceita tudo sem ler as diferenças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3960" lvl="1" indent="-271800" defTabSz="914400">
              <a:lnSpc>
                <a:spcPts val="3827"/>
              </a:lnSpc>
              <a:buClr>
                <a:srgbClr val="4A5568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Cola o erro e pede para corrigir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3960" lvl="1" indent="-271800" defTabSz="914400">
              <a:lnSpc>
                <a:spcPts val="3827"/>
              </a:lnSpc>
              <a:buClr>
                <a:srgbClr val="4A5568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O código cresce além da compreensão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3960" lvl="1" indent="-271800" defTabSz="914400">
              <a:lnSpc>
                <a:spcPts val="3827"/>
              </a:lnSpc>
              <a:buClr>
                <a:srgbClr val="4A5568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Bom para projetos descartáveis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8" name="Group 8"/>
          <p:cNvGrpSpPr/>
          <p:nvPr/>
        </p:nvGrpSpPr>
        <p:grpSpPr>
          <a:xfrm>
            <a:off x="9296640" y="3415680"/>
            <a:ext cx="7771320" cy="3728520"/>
            <a:chOff x="9296640" y="3415680"/>
            <a:chExt cx="7771320" cy="3728520"/>
          </a:xfrm>
        </p:grpSpPr>
        <p:sp>
          <p:nvSpPr>
            <p:cNvPr id="249" name="Freeform 9"/>
            <p:cNvSpPr/>
            <p:nvPr/>
          </p:nvSpPr>
          <p:spPr>
            <a:xfrm>
              <a:off x="9296640" y="3415680"/>
              <a:ext cx="7771320" cy="3728520"/>
            </a:xfrm>
            <a:custGeom>
              <a:avLst/>
              <a:gdLst>
                <a:gd name="textAreaLeft" fmla="*/ 0 w 7771320"/>
                <a:gd name="textAreaRight" fmla="*/ 7771680 w 7771320"/>
                <a:gd name="textAreaTop" fmla="*/ 0 h 3728520"/>
                <a:gd name="textAreaBottom" fmla="*/ 3728880 h 3728520"/>
              </a:gdLst>
              <a:ahLst/>
              <a:cxnLst/>
              <a:rect l="textAreaLeft" t="textAreaTop" r="textAreaRight" b="textAreaBottom"/>
              <a:pathLst>
                <a:path w="10362311" h="4971923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159111" y="0"/>
                  </a:lnTo>
                  <a:cubicBezTo>
                    <a:pt x="10271252" y="0"/>
                    <a:pt x="10362311" y="90932"/>
                    <a:pt x="10362311" y="203200"/>
                  </a:cubicBezTo>
                  <a:lnTo>
                    <a:pt x="10362311" y="4768723"/>
                  </a:lnTo>
                  <a:cubicBezTo>
                    <a:pt x="10362311" y="4880864"/>
                    <a:pt x="10271379" y="4971923"/>
                    <a:pt x="10159111" y="4971923"/>
                  </a:cubicBezTo>
                  <a:lnTo>
                    <a:pt x="203200" y="4971923"/>
                  </a:lnTo>
                  <a:cubicBezTo>
                    <a:pt x="91059" y="4971923"/>
                    <a:pt x="0" y="4880991"/>
                    <a:pt x="0" y="4768723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0" name="TextBox 10"/>
          <p:cNvSpPr/>
          <p:nvPr/>
        </p:nvSpPr>
        <p:spPr>
          <a:xfrm>
            <a:off x="9753840" y="3787200"/>
            <a:ext cx="70628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E8A55C"/>
                </a:solidFill>
                <a:effectLst/>
                <a:uFillTx/>
                <a:latin typeface="IBM Plex Sans"/>
                <a:ea typeface="IBM Plex Sans"/>
              </a:rPr>
              <a:t>WILLISON, 2025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9753840" y="4316760"/>
            <a:ext cx="70628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320"/>
              </a:lnSpc>
            </a:pPr>
            <a:r>
              <a:rPr lang="en-US" sz="3000" b="1" u="none" strike="noStrike">
                <a:solidFill>
                  <a:srgbClr val="F6F4EE"/>
                </a:solidFill>
                <a:effectLst/>
                <a:uFillTx/>
                <a:latin typeface="IBM Plex Sans Bold"/>
                <a:ea typeface="IBM Plex Sans Bold"/>
              </a:rPr>
              <a:t>Programação assistida por IA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2"/>
          <p:cNvSpPr/>
          <p:nvPr/>
        </p:nvSpPr>
        <p:spPr>
          <a:xfrm>
            <a:off x="9860400" y="4917240"/>
            <a:ext cx="6944760" cy="18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543960" lvl="1" indent="-271800" defTabSz="914400">
              <a:lnSpc>
                <a:spcPts val="3827"/>
              </a:lnSpc>
              <a:buClr>
                <a:srgbClr val="C9D1DE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C9D1DE"/>
                </a:solidFill>
                <a:effectLst/>
                <a:uFillTx/>
                <a:latin typeface="IBM Plex Sans"/>
                <a:ea typeface="IBM Plex Sans"/>
              </a:rPr>
              <a:t>Revisa o código gerado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3960" lvl="1" indent="-271800" defTabSz="914400">
              <a:lnSpc>
                <a:spcPts val="3827"/>
              </a:lnSpc>
              <a:buClr>
                <a:srgbClr val="C9D1DE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C9D1DE"/>
                </a:solidFill>
                <a:effectLst/>
                <a:uFillTx/>
                <a:latin typeface="IBM Plex Sans"/>
                <a:ea typeface="IBM Plex Sans"/>
              </a:rPr>
              <a:t>Testa de verdade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3960" lvl="1" indent="-271800" defTabSz="914400">
              <a:lnSpc>
                <a:spcPts val="3827"/>
              </a:lnSpc>
              <a:buClr>
                <a:srgbClr val="C9D1DE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C9D1DE"/>
                </a:solidFill>
                <a:effectLst/>
                <a:uFillTx/>
                <a:latin typeface="IBM Plex Sans"/>
                <a:ea typeface="IBM Plex Sans"/>
              </a:rPr>
              <a:t>Consegue explicar a outra pessoa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3960" lvl="1" indent="-271800" defTabSz="914400">
              <a:lnSpc>
                <a:spcPts val="3827"/>
              </a:lnSpc>
              <a:buClr>
                <a:srgbClr val="C9D1DE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C9D1DE"/>
                </a:solidFill>
                <a:effectLst/>
                <a:uFillTx/>
                <a:latin typeface="IBM Plex Sans"/>
                <a:ea typeface="IBM Plex Sans"/>
              </a:rPr>
              <a:t>É desenvolvimento de software comum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1218960" y="8527320"/>
            <a:ext cx="16324200" cy="5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031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IBM Plex Sans Bold"/>
                <a:ea typeface="IBM Plex Sans Bold"/>
              </a:rPr>
              <a:t>Regra de Willison: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 não commitar código que não se consegue explicar.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2"/>
          <p:cNvSpPr/>
          <p:nvPr/>
        </p:nvSpPr>
        <p:spPr>
          <a:xfrm>
            <a:off x="1218960" y="1190520"/>
            <a:ext cx="1632420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513"/>
              </a:lnSpc>
            </a:pPr>
            <a:r>
              <a:rPr lang="en-US" sz="4440" b="1" u="none" strike="noStrike">
                <a:solidFill>
                  <a:srgbClr val="000000"/>
                </a:solidFill>
                <a:effectLst/>
                <a:uFillTx/>
                <a:latin typeface="Source Serif Pro Bold"/>
                <a:ea typeface="Source Serif Pro Bold"/>
              </a:rPr>
              <a:t>SWEBOK v4: 18 áreas de conhecimento</a:t>
            </a:r>
            <a:endParaRPr lang="en-US" sz="4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3"/>
          <p:cNvSpPr/>
          <p:nvPr/>
        </p:nvSpPr>
        <p:spPr>
          <a:xfrm>
            <a:off x="1218960" y="1977480"/>
            <a:ext cx="1632420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96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O guia oficial da IEEE Computer Society (2024), mapeado para o SFIA 9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6" name="Group 4"/>
          <p:cNvGrpSpPr/>
          <p:nvPr/>
        </p:nvGrpSpPr>
        <p:grpSpPr>
          <a:xfrm>
            <a:off x="1218960" y="3125520"/>
            <a:ext cx="3789720" cy="2082600"/>
            <a:chOff x="1218960" y="3125520"/>
            <a:chExt cx="3789720" cy="2082600"/>
          </a:xfrm>
        </p:grpSpPr>
        <p:sp>
          <p:nvSpPr>
            <p:cNvPr id="257" name="Freeform 5"/>
            <p:cNvSpPr/>
            <p:nvPr/>
          </p:nvSpPr>
          <p:spPr>
            <a:xfrm>
              <a:off x="1218960" y="3125520"/>
              <a:ext cx="3789720" cy="2082600"/>
            </a:xfrm>
            <a:custGeom>
              <a:avLst/>
              <a:gdLst>
                <a:gd name="textAreaLeft" fmla="*/ 0 w 3789720"/>
                <a:gd name="textAreaRight" fmla="*/ 3790080 w 3789720"/>
                <a:gd name="textAreaTop" fmla="*/ 0 h 2082600"/>
                <a:gd name="textAreaBottom" fmla="*/ 2082960 h 2082600"/>
              </a:gdLst>
              <a:ahLst/>
              <a:cxnLst/>
              <a:rect l="textAreaLeft" t="textAreaTop" r="textAreaRight" b="textAreaBottom"/>
              <a:pathLst>
                <a:path w="5053330" h="2777236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901057" y="0"/>
                  </a:lnTo>
                  <a:cubicBezTo>
                    <a:pt x="4985131" y="0"/>
                    <a:pt x="5053330" y="68199"/>
                    <a:pt x="5053330" y="152273"/>
                  </a:cubicBezTo>
                  <a:lnTo>
                    <a:pt x="5053330" y="2624963"/>
                  </a:lnTo>
                  <a:cubicBezTo>
                    <a:pt x="5053330" y="2709037"/>
                    <a:pt x="4985131" y="2777236"/>
                    <a:pt x="4901057" y="2777236"/>
                  </a:cubicBezTo>
                  <a:lnTo>
                    <a:pt x="152273" y="2777236"/>
                  </a:lnTo>
                  <a:cubicBezTo>
                    <a:pt x="68199" y="2777236"/>
                    <a:pt x="0" y="2709037"/>
                    <a:pt x="0" y="2624963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TextBox 6"/>
          <p:cNvSpPr/>
          <p:nvPr/>
        </p:nvSpPr>
        <p:spPr>
          <a:xfrm>
            <a:off x="1524240" y="3344400"/>
            <a:ext cx="3275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A1530C"/>
                </a:solidFill>
                <a:effectLst/>
                <a:uFillTx/>
                <a:latin typeface="IBM Plex Sans"/>
                <a:ea typeface="IBM Plex Sans"/>
              </a:rPr>
              <a:t>ENTENDER O PROBLEMA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7"/>
          <p:cNvSpPr/>
          <p:nvPr/>
        </p:nvSpPr>
        <p:spPr>
          <a:xfrm>
            <a:off x="1524240" y="3778560"/>
            <a:ext cx="327564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2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Requisitos · Modelos e Métodos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oup 8"/>
          <p:cNvGrpSpPr/>
          <p:nvPr/>
        </p:nvGrpSpPr>
        <p:grpSpPr>
          <a:xfrm>
            <a:off x="5238720" y="3125520"/>
            <a:ext cx="3789720" cy="2082600"/>
            <a:chOff x="5238720" y="3125520"/>
            <a:chExt cx="3789720" cy="2082600"/>
          </a:xfrm>
        </p:grpSpPr>
        <p:sp>
          <p:nvSpPr>
            <p:cNvPr id="261" name="Freeform 9"/>
            <p:cNvSpPr/>
            <p:nvPr/>
          </p:nvSpPr>
          <p:spPr>
            <a:xfrm>
              <a:off x="5238720" y="3125520"/>
              <a:ext cx="3789720" cy="2082600"/>
            </a:xfrm>
            <a:custGeom>
              <a:avLst/>
              <a:gdLst>
                <a:gd name="textAreaLeft" fmla="*/ 0 w 3789720"/>
                <a:gd name="textAreaRight" fmla="*/ 3790080 w 3789720"/>
                <a:gd name="textAreaTop" fmla="*/ 0 h 2082600"/>
                <a:gd name="textAreaBottom" fmla="*/ 2082960 h 2082600"/>
              </a:gdLst>
              <a:ahLst/>
              <a:cxnLst/>
              <a:rect l="textAreaLeft" t="textAreaTop" r="textAreaRight" b="textAreaBottom"/>
              <a:pathLst>
                <a:path w="5053330" h="2777236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901057" y="0"/>
                  </a:lnTo>
                  <a:cubicBezTo>
                    <a:pt x="4985131" y="0"/>
                    <a:pt x="5053330" y="68199"/>
                    <a:pt x="5053330" y="152273"/>
                  </a:cubicBezTo>
                  <a:lnTo>
                    <a:pt x="5053330" y="2624963"/>
                  </a:lnTo>
                  <a:cubicBezTo>
                    <a:pt x="5053330" y="2709037"/>
                    <a:pt x="4985131" y="2777236"/>
                    <a:pt x="4901057" y="2777236"/>
                  </a:cubicBezTo>
                  <a:lnTo>
                    <a:pt x="152273" y="2777236"/>
                  </a:lnTo>
                  <a:cubicBezTo>
                    <a:pt x="68199" y="2777236"/>
                    <a:pt x="0" y="2709037"/>
                    <a:pt x="0" y="2624963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TextBox 10"/>
          <p:cNvSpPr/>
          <p:nvPr/>
        </p:nvSpPr>
        <p:spPr>
          <a:xfrm>
            <a:off x="5543280" y="3344400"/>
            <a:ext cx="3275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A1530C"/>
                </a:solidFill>
                <a:effectLst/>
                <a:uFillTx/>
                <a:latin typeface="IBM Plex Sans"/>
                <a:ea typeface="IBM Plex Sans"/>
              </a:rPr>
              <a:t>DECIDIR A ESTRUTURA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1"/>
          <p:cNvSpPr/>
          <p:nvPr/>
        </p:nvSpPr>
        <p:spPr>
          <a:xfrm>
            <a:off x="5543280" y="3778560"/>
            <a:ext cx="32756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2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Arquitetura · Design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4" name="Group 12"/>
          <p:cNvGrpSpPr/>
          <p:nvPr/>
        </p:nvGrpSpPr>
        <p:grpSpPr>
          <a:xfrm>
            <a:off x="9258480" y="3125520"/>
            <a:ext cx="3789720" cy="2082600"/>
            <a:chOff x="9258480" y="3125520"/>
            <a:chExt cx="3789720" cy="2082600"/>
          </a:xfrm>
        </p:grpSpPr>
        <p:sp>
          <p:nvSpPr>
            <p:cNvPr id="265" name="Freeform 13"/>
            <p:cNvSpPr/>
            <p:nvPr/>
          </p:nvSpPr>
          <p:spPr>
            <a:xfrm>
              <a:off x="9258480" y="3125520"/>
              <a:ext cx="3789720" cy="2082600"/>
            </a:xfrm>
            <a:custGeom>
              <a:avLst/>
              <a:gdLst>
                <a:gd name="textAreaLeft" fmla="*/ 0 w 3789720"/>
                <a:gd name="textAreaRight" fmla="*/ 3790080 w 3789720"/>
                <a:gd name="textAreaTop" fmla="*/ 0 h 2082600"/>
                <a:gd name="textAreaBottom" fmla="*/ 2082960 h 2082600"/>
              </a:gdLst>
              <a:ahLst/>
              <a:cxnLst/>
              <a:rect l="textAreaLeft" t="textAreaTop" r="textAreaRight" b="textAreaBottom"/>
              <a:pathLst>
                <a:path w="5053330" h="2777236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901057" y="0"/>
                  </a:lnTo>
                  <a:cubicBezTo>
                    <a:pt x="4985131" y="0"/>
                    <a:pt x="5053330" y="68199"/>
                    <a:pt x="5053330" y="152273"/>
                  </a:cubicBezTo>
                  <a:lnTo>
                    <a:pt x="5053330" y="2624963"/>
                  </a:lnTo>
                  <a:cubicBezTo>
                    <a:pt x="5053330" y="2709037"/>
                    <a:pt x="4985131" y="2777236"/>
                    <a:pt x="4901057" y="2777236"/>
                  </a:cubicBezTo>
                  <a:lnTo>
                    <a:pt x="152273" y="2777236"/>
                  </a:lnTo>
                  <a:cubicBezTo>
                    <a:pt x="68199" y="2777236"/>
                    <a:pt x="0" y="2709037"/>
                    <a:pt x="0" y="2624963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6" name="TextBox 14"/>
          <p:cNvSpPr/>
          <p:nvPr/>
        </p:nvSpPr>
        <p:spPr>
          <a:xfrm>
            <a:off x="9563040" y="3344400"/>
            <a:ext cx="3275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E8A55C"/>
                </a:solidFill>
                <a:effectLst/>
                <a:uFillTx/>
                <a:latin typeface="IBM Plex Sans"/>
                <a:ea typeface="IBM Plex Sans"/>
              </a:rPr>
              <a:t>PRODUZIR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5"/>
          <p:cNvSpPr/>
          <p:nvPr/>
        </p:nvSpPr>
        <p:spPr>
          <a:xfrm>
            <a:off x="9563040" y="3778560"/>
            <a:ext cx="32756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200" b="1" u="none" strike="noStrike">
                <a:solidFill>
                  <a:srgbClr val="F6F4EE"/>
                </a:solidFill>
                <a:effectLst/>
                <a:uFillTx/>
                <a:latin typeface="IBM Plex Sans Bold"/>
                <a:ea typeface="IBM Plex Sans Bold"/>
              </a:rPr>
              <a:t>Construção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6"/>
          <p:cNvSpPr/>
          <p:nvPr/>
        </p:nvSpPr>
        <p:spPr>
          <a:xfrm>
            <a:off x="9563040" y="4262400"/>
            <a:ext cx="3275640" cy="4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17"/>
              </a:lnSpc>
            </a:pPr>
            <a:r>
              <a:rPr lang="en-US" sz="1800" b="0" u="none" strike="noStrike">
                <a:solidFill>
                  <a:srgbClr val="C9D1DE"/>
                </a:solidFill>
                <a:effectLst/>
                <a:uFillTx/>
                <a:latin typeface="IBM Plex Sans"/>
                <a:ea typeface="IBM Plex Sans"/>
              </a:rPr>
              <a:t>Onde a IA mais atua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9" name="Group 17"/>
          <p:cNvGrpSpPr/>
          <p:nvPr/>
        </p:nvGrpSpPr>
        <p:grpSpPr>
          <a:xfrm>
            <a:off x="13277520" y="3125520"/>
            <a:ext cx="3789720" cy="2082600"/>
            <a:chOff x="13277520" y="3125520"/>
            <a:chExt cx="3789720" cy="2082600"/>
          </a:xfrm>
        </p:grpSpPr>
        <p:sp>
          <p:nvSpPr>
            <p:cNvPr id="270" name="Freeform 18"/>
            <p:cNvSpPr/>
            <p:nvPr/>
          </p:nvSpPr>
          <p:spPr>
            <a:xfrm>
              <a:off x="13277520" y="3125520"/>
              <a:ext cx="3789720" cy="2082600"/>
            </a:xfrm>
            <a:custGeom>
              <a:avLst/>
              <a:gdLst>
                <a:gd name="textAreaLeft" fmla="*/ 0 w 3789720"/>
                <a:gd name="textAreaRight" fmla="*/ 3790080 w 3789720"/>
                <a:gd name="textAreaTop" fmla="*/ 0 h 2082600"/>
                <a:gd name="textAreaBottom" fmla="*/ 2082960 h 2082600"/>
              </a:gdLst>
              <a:ahLst/>
              <a:cxnLst/>
              <a:rect l="textAreaLeft" t="textAreaTop" r="textAreaRight" b="textAreaBottom"/>
              <a:pathLst>
                <a:path w="5053330" h="2777236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901057" y="0"/>
                  </a:lnTo>
                  <a:cubicBezTo>
                    <a:pt x="4985131" y="0"/>
                    <a:pt x="5053330" y="68199"/>
                    <a:pt x="5053330" y="152273"/>
                  </a:cubicBezTo>
                  <a:lnTo>
                    <a:pt x="5053330" y="2624963"/>
                  </a:lnTo>
                  <a:cubicBezTo>
                    <a:pt x="5053330" y="2709037"/>
                    <a:pt x="4985131" y="2777236"/>
                    <a:pt x="4901057" y="2777236"/>
                  </a:cubicBezTo>
                  <a:lnTo>
                    <a:pt x="152273" y="2777236"/>
                  </a:lnTo>
                  <a:cubicBezTo>
                    <a:pt x="68199" y="2777236"/>
                    <a:pt x="0" y="2709037"/>
                    <a:pt x="0" y="2624963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1" name="TextBox 19"/>
          <p:cNvSpPr/>
          <p:nvPr/>
        </p:nvSpPr>
        <p:spPr>
          <a:xfrm>
            <a:off x="13582800" y="3344400"/>
            <a:ext cx="3275640" cy="7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A1530C"/>
                </a:solidFill>
                <a:effectLst/>
                <a:uFillTx/>
                <a:latin typeface="IBM Plex Sans"/>
                <a:ea typeface="IBM Plex Sans"/>
              </a:rPr>
              <a:t>GARANTIR QUE FUNCIONA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20"/>
          <p:cNvSpPr/>
          <p:nvPr/>
        </p:nvSpPr>
        <p:spPr>
          <a:xfrm>
            <a:off x="13582800" y="4098960"/>
            <a:ext cx="327564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2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Testes · Qualidade · Segurança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3" name="Group 21"/>
          <p:cNvGrpSpPr/>
          <p:nvPr/>
        </p:nvGrpSpPr>
        <p:grpSpPr>
          <a:xfrm>
            <a:off x="1218960" y="5438160"/>
            <a:ext cx="3789720" cy="2122920"/>
            <a:chOff x="1218960" y="5438160"/>
            <a:chExt cx="3789720" cy="2122920"/>
          </a:xfrm>
        </p:grpSpPr>
        <p:sp>
          <p:nvSpPr>
            <p:cNvPr id="274" name="Freeform 22"/>
            <p:cNvSpPr/>
            <p:nvPr/>
          </p:nvSpPr>
          <p:spPr>
            <a:xfrm>
              <a:off x="1218960" y="5438160"/>
              <a:ext cx="3789720" cy="2122920"/>
            </a:xfrm>
            <a:custGeom>
              <a:avLst/>
              <a:gdLst>
                <a:gd name="textAreaLeft" fmla="*/ 0 w 3789720"/>
                <a:gd name="textAreaRight" fmla="*/ 3790080 w 3789720"/>
                <a:gd name="textAreaTop" fmla="*/ 0 h 2122920"/>
                <a:gd name="textAreaBottom" fmla="*/ 2123280 h 2122920"/>
              </a:gdLst>
              <a:ahLst/>
              <a:cxnLst/>
              <a:rect l="textAreaLeft" t="textAreaTop" r="textAreaRight" b="textAreaBottom"/>
              <a:pathLst>
                <a:path w="5053457" h="2831084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901057" y="0"/>
                  </a:lnTo>
                  <a:cubicBezTo>
                    <a:pt x="4985258" y="0"/>
                    <a:pt x="5053457" y="68199"/>
                    <a:pt x="5053457" y="152400"/>
                  </a:cubicBezTo>
                  <a:lnTo>
                    <a:pt x="5053457" y="2678684"/>
                  </a:lnTo>
                  <a:cubicBezTo>
                    <a:pt x="5053457" y="2762885"/>
                    <a:pt x="4985258" y="2831084"/>
                    <a:pt x="4901057" y="2831084"/>
                  </a:cubicBezTo>
                  <a:lnTo>
                    <a:pt x="152400" y="2831084"/>
                  </a:lnTo>
                  <a:cubicBezTo>
                    <a:pt x="68199" y="2831084"/>
                    <a:pt x="0" y="2762885"/>
                    <a:pt x="0" y="2678684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5" name="TextBox 23"/>
          <p:cNvSpPr/>
          <p:nvPr/>
        </p:nvSpPr>
        <p:spPr>
          <a:xfrm>
            <a:off x="1524240" y="5657040"/>
            <a:ext cx="3275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A1530C"/>
                </a:solidFill>
                <a:effectLst/>
                <a:uFillTx/>
                <a:latin typeface="IBM Plex Sans"/>
                <a:ea typeface="IBM Plex Sans"/>
              </a:rPr>
              <a:t>MANTER FUNCIONANDO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4"/>
          <p:cNvSpPr/>
          <p:nvPr/>
        </p:nvSpPr>
        <p:spPr>
          <a:xfrm>
            <a:off x="1524240" y="6091200"/>
            <a:ext cx="327564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2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Operações · Manutenção · </a:t>
            </a:r>
            <a:r>
              <a:rPr lang="en-US" sz="2200" b="1" u="none" strike="noStrike">
                <a:solidFill>
                  <a:srgbClr val="14213D"/>
                </a:solidFill>
                <a:effectLst/>
                <a:uFillTx/>
                <a:latin typeface="IBM Plex Sans Bold"/>
                <a:ea typeface="IBM Plex Sans Bold"/>
              </a:rPr>
              <a:t>Gerência de Configuração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7" name="Group 25"/>
          <p:cNvGrpSpPr/>
          <p:nvPr/>
        </p:nvGrpSpPr>
        <p:grpSpPr>
          <a:xfrm>
            <a:off x="5238720" y="5438160"/>
            <a:ext cx="3789720" cy="2122920"/>
            <a:chOff x="5238720" y="5438160"/>
            <a:chExt cx="3789720" cy="2122920"/>
          </a:xfrm>
        </p:grpSpPr>
        <p:sp>
          <p:nvSpPr>
            <p:cNvPr id="278" name="Freeform 26"/>
            <p:cNvSpPr/>
            <p:nvPr/>
          </p:nvSpPr>
          <p:spPr>
            <a:xfrm>
              <a:off x="5238720" y="5438160"/>
              <a:ext cx="3789720" cy="2122920"/>
            </a:xfrm>
            <a:custGeom>
              <a:avLst/>
              <a:gdLst>
                <a:gd name="textAreaLeft" fmla="*/ 0 w 3789720"/>
                <a:gd name="textAreaRight" fmla="*/ 3790080 w 3789720"/>
                <a:gd name="textAreaTop" fmla="*/ 0 h 2122920"/>
                <a:gd name="textAreaBottom" fmla="*/ 2123280 h 2122920"/>
              </a:gdLst>
              <a:ahLst/>
              <a:cxnLst/>
              <a:rect l="textAreaLeft" t="textAreaTop" r="textAreaRight" b="textAreaBottom"/>
              <a:pathLst>
                <a:path w="5053457" h="2831084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901057" y="0"/>
                  </a:lnTo>
                  <a:cubicBezTo>
                    <a:pt x="4985258" y="0"/>
                    <a:pt x="5053457" y="68199"/>
                    <a:pt x="5053457" y="152400"/>
                  </a:cubicBezTo>
                  <a:lnTo>
                    <a:pt x="5053457" y="2678684"/>
                  </a:lnTo>
                  <a:cubicBezTo>
                    <a:pt x="5053457" y="2762885"/>
                    <a:pt x="4985258" y="2831084"/>
                    <a:pt x="4901057" y="2831084"/>
                  </a:cubicBezTo>
                  <a:lnTo>
                    <a:pt x="152400" y="2831084"/>
                  </a:lnTo>
                  <a:cubicBezTo>
                    <a:pt x="68199" y="2831084"/>
                    <a:pt x="0" y="2762885"/>
                    <a:pt x="0" y="2678684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9" name="TextBox 27"/>
          <p:cNvSpPr/>
          <p:nvPr/>
        </p:nvSpPr>
        <p:spPr>
          <a:xfrm>
            <a:off x="5543280" y="5657040"/>
            <a:ext cx="348516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A1530C"/>
                </a:solidFill>
                <a:effectLst/>
                <a:uFillTx/>
                <a:latin typeface="IBM Plex Sans"/>
                <a:ea typeface="IBM Plex Sans"/>
              </a:rPr>
              <a:t>ORGANIZAR O TRABALHO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8"/>
          <p:cNvSpPr/>
          <p:nvPr/>
        </p:nvSpPr>
        <p:spPr>
          <a:xfrm>
            <a:off x="5543280" y="6091200"/>
            <a:ext cx="3275640" cy="12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2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Gestão · Processo · Economia · Prática Profissional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1" name="Group 29"/>
          <p:cNvGrpSpPr/>
          <p:nvPr/>
        </p:nvGrpSpPr>
        <p:grpSpPr>
          <a:xfrm>
            <a:off x="9258480" y="5438160"/>
            <a:ext cx="3789720" cy="2122920"/>
            <a:chOff x="9258480" y="5438160"/>
            <a:chExt cx="3789720" cy="2122920"/>
          </a:xfrm>
        </p:grpSpPr>
        <p:sp>
          <p:nvSpPr>
            <p:cNvPr id="282" name="Freeform 30"/>
            <p:cNvSpPr/>
            <p:nvPr/>
          </p:nvSpPr>
          <p:spPr>
            <a:xfrm>
              <a:off x="9258480" y="5438160"/>
              <a:ext cx="3789720" cy="2122920"/>
            </a:xfrm>
            <a:custGeom>
              <a:avLst/>
              <a:gdLst>
                <a:gd name="textAreaLeft" fmla="*/ 0 w 3789720"/>
                <a:gd name="textAreaRight" fmla="*/ 3790080 w 3789720"/>
                <a:gd name="textAreaTop" fmla="*/ 0 h 2122920"/>
                <a:gd name="textAreaBottom" fmla="*/ 2123280 h 2122920"/>
              </a:gdLst>
              <a:ahLst/>
              <a:cxnLst/>
              <a:rect l="textAreaLeft" t="textAreaTop" r="textAreaRight" b="textAreaBottom"/>
              <a:pathLst>
                <a:path w="5053457" h="2831084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901057" y="0"/>
                  </a:lnTo>
                  <a:cubicBezTo>
                    <a:pt x="4985258" y="0"/>
                    <a:pt x="5053457" y="68199"/>
                    <a:pt x="5053457" y="152400"/>
                  </a:cubicBezTo>
                  <a:lnTo>
                    <a:pt x="5053457" y="2678684"/>
                  </a:lnTo>
                  <a:cubicBezTo>
                    <a:pt x="5053457" y="2762885"/>
                    <a:pt x="4985258" y="2831084"/>
                    <a:pt x="4901057" y="2831084"/>
                  </a:cubicBezTo>
                  <a:lnTo>
                    <a:pt x="152400" y="2831084"/>
                  </a:lnTo>
                  <a:cubicBezTo>
                    <a:pt x="68199" y="2831084"/>
                    <a:pt x="0" y="2762885"/>
                    <a:pt x="0" y="2678684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3" name="TextBox 31"/>
          <p:cNvSpPr/>
          <p:nvPr/>
        </p:nvSpPr>
        <p:spPr>
          <a:xfrm>
            <a:off x="9563040" y="5657040"/>
            <a:ext cx="3275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A1530C"/>
                </a:solidFill>
                <a:effectLst/>
                <a:uFillTx/>
                <a:latin typeface="IBM Plex Sans"/>
                <a:ea typeface="IBM Plex Sans"/>
              </a:rPr>
              <a:t>FUNDAMENTOS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32"/>
          <p:cNvSpPr/>
          <p:nvPr/>
        </p:nvSpPr>
        <p:spPr>
          <a:xfrm>
            <a:off x="9563040" y="6091200"/>
            <a:ext cx="327564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2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Computação · Matemática · Engenharia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33"/>
          <p:cNvSpPr/>
          <p:nvPr/>
        </p:nvSpPr>
        <p:spPr>
          <a:xfrm>
            <a:off x="1218960" y="8100360"/>
            <a:ext cx="163242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031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A IA atua forte em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IBM Plex Sans Bold"/>
                <a:ea typeface="IBM Plex Sans Bold"/>
              </a:rPr>
              <a:t>uma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 área. As outras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IBM Plex Sans Bold"/>
                <a:ea typeface="IBM Plex Sans Bold"/>
              </a:rPr>
              <a:t>dezessete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 exigem alguém que conheça o problema, decida e responda pelo resultado.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Box 2"/>
          <p:cNvSpPr/>
          <p:nvPr/>
        </p:nvSpPr>
        <p:spPr>
          <a:xfrm>
            <a:off x="1218960" y="1190520"/>
            <a:ext cx="1632420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513"/>
              </a:lnSpc>
            </a:pPr>
            <a:r>
              <a:rPr lang="en-US" sz="4440" b="1" u="none" strike="noStrike">
                <a:solidFill>
                  <a:srgbClr val="000000"/>
                </a:solidFill>
                <a:effectLst/>
                <a:uFillTx/>
                <a:latin typeface="Source Serif Pro Bold"/>
                <a:ea typeface="Source Serif Pro Bold"/>
              </a:rPr>
              <a:t>A indústria chega à mesma conclusão</a:t>
            </a:r>
            <a:endParaRPr lang="en-US" sz="4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3"/>
          <p:cNvSpPr/>
          <p:nvPr/>
        </p:nvSpPr>
        <p:spPr>
          <a:xfrm>
            <a:off x="1218960" y="1977480"/>
            <a:ext cx="1632420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96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Thoughtworks · Future of Software Development, 2026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8" name="Group 4"/>
          <p:cNvGrpSpPr/>
          <p:nvPr/>
        </p:nvGrpSpPr>
        <p:grpSpPr>
          <a:xfrm>
            <a:off x="1218960" y="3912480"/>
            <a:ext cx="7771320" cy="3314520"/>
            <a:chOff x="1218960" y="3912480"/>
            <a:chExt cx="7771320" cy="3314520"/>
          </a:xfrm>
        </p:grpSpPr>
        <p:sp>
          <p:nvSpPr>
            <p:cNvPr id="289" name="Freeform 5"/>
            <p:cNvSpPr/>
            <p:nvPr/>
          </p:nvSpPr>
          <p:spPr>
            <a:xfrm>
              <a:off x="1218960" y="3912480"/>
              <a:ext cx="7771320" cy="3314520"/>
            </a:xfrm>
            <a:custGeom>
              <a:avLst/>
              <a:gdLst>
                <a:gd name="textAreaLeft" fmla="*/ 0 w 7771320"/>
                <a:gd name="textAreaRight" fmla="*/ 7771680 w 7771320"/>
                <a:gd name="textAreaTop" fmla="*/ 0 h 3314520"/>
                <a:gd name="textAreaBottom" fmla="*/ 3314880 h 3314520"/>
              </a:gdLst>
              <a:ahLst/>
              <a:cxnLst/>
              <a:rect l="textAreaLeft" t="textAreaTop" r="textAreaRight" b="textAreaBottom"/>
              <a:pathLst>
                <a:path w="10362184" h="4419727">
                  <a:moveTo>
                    <a:pt x="0" y="203073"/>
                  </a:moveTo>
                  <a:cubicBezTo>
                    <a:pt x="0" y="90932"/>
                    <a:pt x="90932" y="0"/>
                    <a:pt x="203073" y="0"/>
                  </a:cubicBezTo>
                  <a:lnTo>
                    <a:pt x="10159111" y="0"/>
                  </a:lnTo>
                  <a:cubicBezTo>
                    <a:pt x="10271252" y="0"/>
                    <a:pt x="10362184" y="90932"/>
                    <a:pt x="10362184" y="203073"/>
                  </a:cubicBezTo>
                  <a:lnTo>
                    <a:pt x="10362184" y="4216654"/>
                  </a:lnTo>
                  <a:cubicBezTo>
                    <a:pt x="10362184" y="4328795"/>
                    <a:pt x="10271252" y="4419727"/>
                    <a:pt x="10159111" y="4419727"/>
                  </a:cubicBezTo>
                  <a:lnTo>
                    <a:pt x="203073" y="4419727"/>
                  </a:lnTo>
                  <a:cubicBezTo>
                    <a:pt x="90932" y="4419854"/>
                    <a:pt x="0" y="4328922"/>
                    <a:pt x="0" y="4216654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0" name="TextBox 6"/>
          <p:cNvSpPr/>
          <p:nvPr/>
        </p:nvSpPr>
        <p:spPr>
          <a:xfrm>
            <a:off x="1676160" y="4284000"/>
            <a:ext cx="70628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A1530C"/>
                </a:solidFill>
                <a:effectLst/>
                <a:uFillTx/>
                <a:latin typeface="IBM Plex Sans"/>
                <a:ea typeface="IBM Plex Sans"/>
              </a:rPr>
              <a:t>TECHNOLOGY RADAR, ABR.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7"/>
          <p:cNvSpPr/>
          <p:nvPr/>
        </p:nvSpPr>
        <p:spPr>
          <a:xfrm>
            <a:off x="1676160" y="4813560"/>
            <a:ext cx="70628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320"/>
              </a:lnSpc>
            </a:pPr>
            <a:r>
              <a:rPr lang="en-US" sz="3000" b="1" u="none" strike="noStrike">
                <a:solidFill>
                  <a:srgbClr val="14213D"/>
                </a:solidFill>
                <a:effectLst/>
                <a:uFillTx/>
                <a:latin typeface="IBM Plex Sans Bold"/>
                <a:ea typeface="IBM Plex Sans Bold"/>
              </a:rPr>
              <a:t>Volta aos fundamentos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8"/>
          <p:cNvSpPr/>
          <p:nvPr/>
        </p:nvSpPr>
        <p:spPr>
          <a:xfrm>
            <a:off x="1676160" y="5413320"/>
            <a:ext cx="7062840" cy="97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27"/>
              </a:lnSpc>
            </a:pPr>
            <a:r>
              <a:rPr lang="en-US" sz="2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Retomar a base de engenharia para combater o débito cognitivo do software feito com IA.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3" name="Group 9"/>
          <p:cNvGrpSpPr/>
          <p:nvPr/>
        </p:nvGrpSpPr>
        <p:grpSpPr>
          <a:xfrm>
            <a:off x="9296640" y="3912480"/>
            <a:ext cx="7771320" cy="3314520"/>
            <a:chOff x="9296640" y="3912480"/>
            <a:chExt cx="7771320" cy="3314520"/>
          </a:xfrm>
        </p:grpSpPr>
        <p:sp>
          <p:nvSpPr>
            <p:cNvPr id="294" name="Freeform 10"/>
            <p:cNvSpPr/>
            <p:nvPr/>
          </p:nvSpPr>
          <p:spPr>
            <a:xfrm>
              <a:off x="9296640" y="3912480"/>
              <a:ext cx="7771320" cy="3314520"/>
            </a:xfrm>
            <a:custGeom>
              <a:avLst/>
              <a:gdLst>
                <a:gd name="textAreaLeft" fmla="*/ 0 w 7771320"/>
                <a:gd name="textAreaRight" fmla="*/ 7771680 w 7771320"/>
                <a:gd name="textAreaTop" fmla="*/ 0 h 3314520"/>
                <a:gd name="textAreaBottom" fmla="*/ 3314880 h 3314520"/>
              </a:gdLst>
              <a:ahLst/>
              <a:cxnLst/>
              <a:rect l="textAreaLeft" t="textAreaTop" r="textAreaRight" b="textAreaBottom"/>
              <a:pathLst>
                <a:path w="10362184" h="4419727">
                  <a:moveTo>
                    <a:pt x="0" y="203073"/>
                  </a:moveTo>
                  <a:cubicBezTo>
                    <a:pt x="0" y="90932"/>
                    <a:pt x="90932" y="0"/>
                    <a:pt x="203073" y="0"/>
                  </a:cubicBezTo>
                  <a:lnTo>
                    <a:pt x="10159111" y="0"/>
                  </a:lnTo>
                  <a:cubicBezTo>
                    <a:pt x="10271252" y="0"/>
                    <a:pt x="10362184" y="90932"/>
                    <a:pt x="10362184" y="203073"/>
                  </a:cubicBezTo>
                  <a:lnTo>
                    <a:pt x="10362184" y="4216654"/>
                  </a:lnTo>
                  <a:cubicBezTo>
                    <a:pt x="10362184" y="4328795"/>
                    <a:pt x="10271252" y="4419727"/>
                    <a:pt x="10159111" y="4419727"/>
                  </a:cubicBezTo>
                  <a:lnTo>
                    <a:pt x="203073" y="4419727"/>
                  </a:lnTo>
                  <a:cubicBezTo>
                    <a:pt x="90932" y="4419854"/>
                    <a:pt x="0" y="4328922"/>
                    <a:pt x="0" y="4216654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5" name="TextBox 11"/>
          <p:cNvSpPr/>
          <p:nvPr/>
        </p:nvSpPr>
        <p:spPr>
          <a:xfrm>
            <a:off x="9753840" y="4284000"/>
            <a:ext cx="70628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E8A55C"/>
                </a:solidFill>
                <a:effectLst/>
                <a:uFillTx/>
                <a:latin typeface="IBM Plex Sans"/>
                <a:ea typeface="IBM Plex Sans"/>
              </a:rPr>
              <a:t>HARMEL-LAW, JUL.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2"/>
          <p:cNvSpPr/>
          <p:nvPr/>
        </p:nvSpPr>
        <p:spPr>
          <a:xfrm>
            <a:off x="9753840" y="4813560"/>
            <a:ext cx="70628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320"/>
              </a:lnSpc>
            </a:pPr>
            <a:r>
              <a:rPr lang="en-US" sz="3000" b="1" u="none" strike="noStrike">
                <a:solidFill>
                  <a:srgbClr val="F6F4EE"/>
                </a:solidFill>
                <a:effectLst/>
                <a:uFillTx/>
                <a:latin typeface="IBM Plex Sans Bold"/>
                <a:ea typeface="IBM Plex Sans Bold"/>
              </a:rPr>
              <a:t>Requisitos não funcionais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13"/>
          <p:cNvSpPr/>
          <p:nvPr/>
        </p:nvSpPr>
        <p:spPr>
          <a:xfrm>
            <a:off x="9753840" y="5413320"/>
            <a:ext cx="7062840" cy="13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27"/>
              </a:lnSpc>
            </a:pPr>
            <a:r>
              <a:rPr lang="en-US" sz="2200" b="0" u="none" strike="noStrike">
                <a:solidFill>
                  <a:srgbClr val="C9D1DE"/>
                </a:solidFill>
                <a:effectLst/>
                <a:uFillTx/>
                <a:latin typeface="IBM Plex Sans"/>
                <a:ea typeface="IBM Plex Sans"/>
              </a:rPr>
              <a:t>A IA entrega funcionalidade, mas não deduz confiabilidade, segurança e escala. Especificar antes, de forma testável.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4"/>
          <p:cNvSpPr/>
          <p:nvPr/>
        </p:nvSpPr>
        <p:spPr>
          <a:xfrm>
            <a:off x="1218960" y="8572680"/>
            <a:ext cx="1632420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96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Demo que impressiona ≠ sistema pronto para produção.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Box 2"/>
          <p:cNvSpPr/>
          <p:nvPr/>
        </p:nvSpPr>
        <p:spPr>
          <a:xfrm>
            <a:off x="1218960" y="1190520"/>
            <a:ext cx="1632420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513"/>
              </a:lnSpc>
            </a:pPr>
            <a:r>
              <a:rPr lang="en-US" sz="4440" b="1" u="none" strike="noStrike">
                <a:solidFill>
                  <a:srgbClr val="000000"/>
                </a:solidFill>
                <a:effectLst/>
                <a:uFillTx/>
                <a:latin typeface="Source Serif Pro Bold"/>
                <a:ea typeface="Source Serif Pro Bold"/>
              </a:rPr>
              <a:t>O que sobra para o humano</a:t>
            </a:r>
            <a:endParaRPr lang="en-US" sz="4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0" name="Group 3"/>
          <p:cNvGrpSpPr/>
          <p:nvPr/>
        </p:nvGrpSpPr>
        <p:grpSpPr>
          <a:xfrm>
            <a:off x="1218960" y="3591360"/>
            <a:ext cx="3789720" cy="2737800"/>
            <a:chOff x="1218960" y="3591360"/>
            <a:chExt cx="3789720" cy="2737800"/>
          </a:xfrm>
        </p:grpSpPr>
        <p:sp>
          <p:nvSpPr>
            <p:cNvPr id="301" name="Freeform 4"/>
            <p:cNvSpPr/>
            <p:nvPr/>
          </p:nvSpPr>
          <p:spPr>
            <a:xfrm>
              <a:off x="1218960" y="3591360"/>
              <a:ext cx="3789720" cy="2737800"/>
            </a:xfrm>
            <a:custGeom>
              <a:avLst/>
              <a:gdLst>
                <a:gd name="textAreaLeft" fmla="*/ 0 w 3789720"/>
                <a:gd name="textAreaRight" fmla="*/ 3790080 w 3789720"/>
                <a:gd name="textAreaTop" fmla="*/ 0 h 2737800"/>
                <a:gd name="textAreaBottom" fmla="*/ 2738160 h 2737800"/>
              </a:gdLst>
              <a:ahLst/>
              <a:cxnLst/>
              <a:rect l="textAreaLeft" t="textAreaTop" r="textAreaRight" b="textAreaBottom"/>
              <a:pathLst>
                <a:path w="5053457" h="365086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901057" y="0"/>
                  </a:lnTo>
                  <a:cubicBezTo>
                    <a:pt x="4985258" y="0"/>
                    <a:pt x="5053457" y="68199"/>
                    <a:pt x="5053457" y="152400"/>
                  </a:cubicBezTo>
                  <a:lnTo>
                    <a:pt x="5053457" y="3498469"/>
                  </a:lnTo>
                  <a:cubicBezTo>
                    <a:pt x="5053457" y="3582670"/>
                    <a:pt x="4985258" y="3650869"/>
                    <a:pt x="4901057" y="3650869"/>
                  </a:cubicBezTo>
                  <a:lnTo>
                    <a:pt x="152400" y="3650869"/>
                  </a:lnTo>
                  <a:cubicBezTo>
                    <a:pt x="68199" y="3650869"/>
                    <a:pt x="0" y="3582670"/>
                    <a:pt x="0" y="3498469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2" name="TextBox 5"/>
          <p:cNvSpPr/>
          <p:nvPr/>
        </p:nvSpPr>
        <p:spPr>
          <a:xfrm>
            <a:off x="1562400" y="3743640"/>
            <a:ext cx="3197160" cy="9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055"/>
              </a:lnSpc>
            </a:pPr>
            <a:r>
              <a:rPr lang="en-US" sz="4200" b="1" u="none" strike="noStrike">
                <a:solidFill>
                  <a:srgbClr val="A1530C"/>
                </a:solidFill>
                <a:effectLst/>
                <a:uFillTx/>
                <a:latin typeface="Source Serif Pro Bold"/>
                <a:ea typeface="Source Serif Pro Bold"/>
              </a:rPr>
              <a:t>01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6"/>
          <p:cNvSpPr/>
          <p:nvPr/>
        </p:nvSpPr>
        <p:spPr>
          <a:xfrm>
            <a:off x="1562400" y="4737960"/>
            <a:ext cx="31971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55"/>
              </a:lnSpc>
            </a:pPr>
            <a:r>
              <a:rPr lang="en-US" sz="2400" b="1" u="none" strike="noStrike">
                <a:solidFill>
                  <a:srgbClr val="14213D"/>
                </a:solidFill>
                <a:effectLst/>
                <a:uFillTx/>
                <a:latin typeface="IBM Plex Sans Bold"/>
                <a:ea typeface="IBM Plex Sans Bold"/>
              </a:rPr>
              <a:t>Definir o problema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7"/>
          <p:cNvSpPr/>
          <p:nvPr/>
        </p:nvSpPr>
        <p:spPr>
          <a:xfrm>
            <a:off x="1562400" y="5189040"/>
            <a:ext cx="3197160" cy="81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0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Requisitos completos e testáveis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5" name="Group 8"/>
          <p:cNvGrpSpPr/>
          <p:nvPr/>
        </p:nvGrpSpPr>
        <p:grpSpPr>
          <a:xfrm>
            <a:off x="5238720" y="3591360"/>
            <a:ext cx="3789720" cy="2737800"/>
            <a:chOff x="5238720" y="3591360"/>
            <a:chExt cx="3789720" cy="2737800"/>
          </a:xfrm>
        </p:grpSpPr>
        <p:sp>
          <p:nvSpPr>
            <p:cNvPr id="306" name="Freeform 9"/>
            <p:cNvSpPr/>
            <p:nvPr/>
          </p:nvSpPr>
          <p:spPr>
            <a:xfrm>
              <a:off x="5238720" y="3591360"/>
              <a:ext cx="3789720" cy="2737800"/>
            </a:xfrm>
            <a:custGeom>
              <a:avLst/>
              <a:gdLst>
                <a:gd name="textAreaLeft" fmla="*/ 0 w 3789720"/>
                <a:gd name="textAreaRight" fmla="*/ 3790080 w 3789720"/>
                <a:gd name="textAreaTop" fmla="*/ 0 h 2737800"/>
                <a:gd name="textAreaBottom" fmla="*/ 2738160 h 2737800"/>
              </a:gdLst>
              <a:ahLst/>
              <a:cxnLst/>
              <a:rect l="textAreaLeft" t="textAreaTop" r="textAreaRight" b="textAreaBottom"/>
              <a:pathLst>
                <a:path w="5053457" h="365086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901057" y="0"/>
                  </a:lnTo>
                  <a:cubicBezTo>
                    <a:pt x="4985258" y="0"/>
                    <a:pt x="5053457" y="68199"/>
                    <a:pt x="5053457" y="152400"/>
                  </a:cubicBezTo>
                  <a:lnTo>
                    <a:pt x="5053457" y="3498469"/>
                  </a:lnTo>
                  <a:cubicBezTo>
                    <a:pt x="5053457" y="3582670"/>
                    <a:pt x="4985258" y="3650869"/>
                    <a:pt x="4901057" y="3650869"/>
                  </a:cubicBezTo>
                  <a:lnTo>
                    <a:pt x="152400" y="3650869"/>
                  </a:lnTo>
                  <a:cubicBezTo>
                    <a:pt x="68199" y="3650869"/>
                    <a:pt x="0" y="3582670"/>
                    <a:pt x="0" y="3498469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7" name="TextBox 10"/>
          <p:cNvSpPr/>
          <p:nvPr/>
        </p:nvSpPr>
        <p:spPr>
          <a:xfrm>
            <a:off x="5581440" y="3743640"/>
            <a:ext cx="3197160" cy="9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055"/>
              </a:lnSpc>
            </a:pPr>
            <a:r>
              <a:rPr lang="en-US" sz="4200" b="1" u="none" strike="noStrike">
                <a:solidFill>
                  <a:srgbClr val="A1530C"/>
                </a:solidFill>
                <a:effectLst/>
                <a:uFillTx/>
                <a:latin typeface="Source Serif Pro Bold"/>
                <a:ea typeface="Source Serif Pro Bold"/>
              </a:rPr>
              <a:t>02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1"/>
          <p:cNvSpPr/>
          <p:nvPr/>
        </p:nvSpPr>
        <p:spPr>
          <a:xfrm>
            <a:off x="5581440" y="4737960"/>
            <a:ext cx="31971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55"/>
              </a:lnSpc>
            </a:pPr>
            <a:r>
              <a:rPr lang="en-US" sz="2400" b="1" u="none" strike="noStrike">
                <a:solidFill>
                  <a:srgbClr val="14213D"/>
                </a:solidFill>
                <a:effectLst/>
                <a:uFillTx/>
                <a:latin typeface="IBM Plex Sans Bold"/>
                <a:ea typeface="IBM Plex Sans Bold"/>
              </a:rPr>
              <a:t>Decidir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2"/>
          <p:cNvSpPr/>
          <p:nvPr/>
        </p:nvSpPr>
        <p:spPr>
          <a:xfrm>
            <a:off x="5581440" y="5189040"/>
            <a:ext cx="3197160" cy="81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0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Arquitetura e trade-offs registrados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0" name="Group 13"/>
          <p:cNvGrpSpPr/>
          <p:nvPr/>
        </p:nvGrpSpPr>
        <p:grpSpPr>
          <a:xfrm>
            <a:off x="9258480" y="3591360"/>
            <a:ext cx="3789720" cy="2737800"/>
            <a:chOff x="9258480" y="3591360"/>
            <a:chExt cx="3789720" cy="2737800"/>
          </a:xfrm>
        </p:grpSpPr>
        <p:sp>
          <p:nvSpPr>
            <p:cNvPr id="311" name="Freeform 14"/>
            <p:cNvSpPr/>
            <p:nvPr/>
          </p:nvSpPr>
          <p:spPr>
            <a:xfrm>
              <a:off x="9258480" y="3591360"/>
              <a:ext cx="3789720" cy="2737800"/>
            </a:xfrm>
            <a:custGeom>
              <a:avLst/>
              <a:gdLst>
                <a:gd name="textAreaLeft" fmla="*/ 0 w 3789720"/>
                <a:gd name="textAreaRight" fmla="*/ 3790080 w 3789720"/>
                <a:gd name="textAreaTop" fmla="*/ 0 h 2737800"/>
                <a:gd name="textAreaBottom" fmla="*/ 2738160 h 2737800"/>
              </a:gdLst>
              <a:ahLst/>
              <a:cxnLst/>
              <a:rect l="textAreaLeft" t="textAreaTop" r="textAreaRight" b="textAreaBottom"/>
              <a:pathLst>
                <a:path w="5053457" h="365086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901057" y="0"/>
                  </a:lnTo>
                  <a:cubicBezTo>
                    <a:pt x="4985258" y="0"/>
                    <a:pt x="5053457" y="68199"/>
                    <a:pt x="5053457" y="152400"/>
                  </a:cubicBezTo>
                  <a:lnTo>
                    <a:pt x="5053457" y="3498469"/>
                  </a:lnTo>
                  <a:cubicBezTo>
                    <a:pt x="5053457" y="3582670"/>
                    <a:pt x="4985258" y="3650869"/>
                    <a:pt x="4901057" y="3650869"/>
                  </a:cubicBezTo>
                  <a:lnTo>
                    <a:pt x="152400" y="3650869"/>
                  </a:lnTo>
                  <a:cubicBezTo>
                    <a:pt x="68199" y="3650869"/>
                    <a:pt x="0" y="3582670"/>
                    <a:pt x="0" y="3498469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2" name="TextBox 15"/>
          <p:cNvSpPr/>
          <p:nvPr/>
        </p:nvSpPr>
        <p:spPr>
          <a:xfrm>
            <a:off x="9601200" y="3743640"/>
            <a:ext cx="3197160" cy="9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055"/>
              </a:lnSpc>
            </a:pPr>
            <a:r>
              <a:rPr lang="en-US" sz="4200" b="1" u="none" strike="noStrike">
                <a:solidFill>
                  <a:srgbClr val="A1530C"/>
                </a:solidFill>
                <a:effectLst/>
                <a:uFillTx/>
                <a:latin typeface="Source Serif Pro Bold"/>
                <a:ea typeface="Source Serif Pro Bold"/>
              </a:rPr>
              <a:t>03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6"/>
          <p:cNvSpPr/>
          <p:nvPr/>
        </p:nvSpPr>
        <p:spPr>
          <a:xfrm>
            <a:off x="9601200" y="4737960"/>
            <a:ext cx="319716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55"/>
              </a:lnSpc>
            </a:pPr>
            <a:r>
              <a:rPr lang="en-US" sz="2400" b="1" u="none" strike="noStrike">
                <a:solidFill>
                  <a:srgbClr val="14213D"/>
                </a:solidFill>
                <a:effectLst/>
                <a:uFillTx/>
                <a:latin typeface="IBM Plex Sans Bold"/>
                <a:ea typeface="IBM Plex Sans Bold"/>
              </a:rPr>
              <a:t>Responder pelo resultado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7"/>
          <p:cNvSpPr/>
          <p:nvPr/>
        </p:nvSpPr>
        <p:spPr>
          <a:xfrm>
            <a:off x="9601200" y="5554800"/>
            <a:ext cx="3197160" cy="4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0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Revisar, testar e explicar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5" name="Group 18"/>
          <p:cNvGrpSpPr/>
          <p:nvPr/>
        </p:nvGrpSpPr>
        <p:grpSpPr>
          <a:xfrm>
            <a:off x="13277520" y="3591360"/>
            <a:ext cx="3789720" cy="2737800"/>
            <a:chOff x="13277520" y="3591360"/>
            <a:chExt cx="3789720" cy="2737800"/>
          </a:xfrm>
        </p:grpSpPr>
        <p:sp>
          <p:nvSpPr>
            <p:cNvPr id="316" name="Freeform 19"/>
            <p:cNvSpPr/>
            <p:nvPr/>
          </p:nvSpPr>
          <p:spPr>
            <a:xfrm>
              <a:off x="13277520" y="3591360"/>
              <a:ext cx="3789720" cy="2737800"/>
            </a:xfrm>
            <a:custGeom>
              <a:avLst/>
              <a:gdLst>
                <a:gd name="textAreaLeft" fmla="*/ 0 w 3789720"/>
                <a:gd name="textAreaRight" fmla="*/ 3790080 w 3789720"/>
                <a:gd name="textAreaTop" fmla="*/ 0 h 2737800"/>
                <a:gd name="textAreaBottom" fmla="*/ 2738160 h 2737800"/>
              </a:gdLst>
              <a:ahLst/>
              <a:cxnLst/>
              <a:rect l="textAreaLeft" t="textAreaTop" r="textAreaRight" b="textAreaBottom"/>
              <a:pathLst>
                <a:path w="5053457" h="365086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901057" y="0"/>
                  </a:lnTo>
                  <a:cubicBezTo>
                    <a:pt x="4985258" y="0"/>
                    <a:pt x="5053457" y="68199"/>
                    <a:pt x="5053457" y="152400"/>
                  </a:cubicBezTo>
                  <a:lnTo>
                    <a:pt x="5053457" y="3498469"/>
                  </a:lnTo>
                  <a:cubicBezTo>
                    <a:pt x="5053457" y="3582670"/>
                    <a:pt x="4985258" y="3650869"/>
                    <a:pt x="4901057" y="3650869"/>
                  </a:cubicBezTo>
                  <a:lnTo>
                    <a:pt x="152400" y="3650869"/>
                  </a:lnTo>
                  <a:cubicBezTo>
                    <a:pt x="68199" y="3650869"/>
                    <a:pt x="0" y="3582670"/>
                    <a:pt x="0" y="3498469"/>
                  </a:cubicBezTo>
                  <a:close/>
                </a:path>
              </a:pathLst>
            </a:custGeom>
            <a:solidFill>
              <a:srgbClr val="1421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7" name="TextBox 20"/>
          <p:cNvSpPr/>
          <p:nvPr/>
        </p:nvSpPr>
        <p:spPr>
          <a:xfrm>
            <a:off x="13620960" y="3743640"/>
            <a:ext cx="3197160" cy="9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055"/>
              </a:lnSpc>
            </a:pPr>
            <a:r>
              <a:rPr lang="en-US" sz="4200" b="1" u="none" strike="noStrike">
                <a:solidFill>
                  <a:srgbClr val="E8A55C"/>
                </a:solidFill>
                <a:effectLst/>
                <a:uFillTx/>
                <a:latin typeface="Source Serif Pro Bold"/>
                <a:ea typeface="Source Serif Pro Bold"/>
              </a:rPr>
              <a:t>04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21"/>
          <p:cNvSpPr/>
          <p:nvPr/>
        </p:nvSpPr>
        <p:spPr>
          <a:xfrm>
            <a:off x="13620960" y="4737960"/>
            <a:ext cx="31971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55"/>
              </a:lnSpc>
            </a:pPr>
            <a:r>
              <a:rPr lang="en-US" sz="2400" b="1" u="none" strike="noStrike">
                <a:solidFill>
                  <a:srgbClr val="F6F4EE"/>
                </a:solidFill>
                <a:effectLst/>
                <a:uFillTx/>
                <a:latin typeface="IBM Plex Sans Bold"/>
                <a:ea typeface="IBM Plex Sans Bold"/>
              </a:rPr>
              <a:t>Controlar a evolução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22"/>
          <p:cNvSpPr/>
          <p:nvPr/>
        </p:nvSpPr>
        <p:spPr>
          <a:xfrm>
            <a:off x="13620960" y="5189040"/>
            <a:ext cx="3197160" cy="4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000" b="0" u="none" strike="noStrike">
                <a:solidFill>
                  <a:srgbClr val="C9D1DE"/>
                </a:solidFill>
                <a:effectLst/>
                <a:uFillTx/>
                <a:latin typeface="IBM Plex Sans"/>
                <a:ea typeface="IBM Plex Sans"/>
              </a:rPr>
              <a:t>Gerência de configuração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AutoShape 23"/>
          <p:cNvSpPr/>
          <p:nvPr/>
        </p:nvSpPr>
        <p:spPr>
          <a:xfrm>
            <a:off x="1209600" y="7948080"/>
            <a:ext cx="76680" cy="1144080"/>
          </a:xfrm>
          <a:prstGeom prst="line">
            <a:avLst/>
          </a:prstGeom>
          <a:ln cap="rnd" w="28575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24"/>
          <p:cNvSpPr/>
          <p:nvPr/>
        </p:nvSpPr>
        <p:spPr>
          <a:xfrm>
            <a:off x="1657440" y="7963200"/>
            <a:ext cx="15872760" cy="5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031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IBM Plex Sans Bold"/>
                <a:ea typeface="IBM Plex Sans Bold"/>
              </a:rPr>
              <a:t>O commit é onde o humano assume o código da IA.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25"/>
          <p:cNvSpPr/>
          <p:nvPr/>
        </p:nvSpPr>
        <p:spPr>
          <a:xfrm>
            <a:off x="1657440" y="8523000"/>
            <a:ext cx="1587276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96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Requisitos, ADRs e regras viram itens de configuração: versionados e rastreados junto com o código.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Box 2"/>
          <p:cNvSpPr/>
          <p:nvPr/>
        </p:nvSpPr>
        <p:spPr>
          <a:xfrm>
            <a:off x="1218960" y="1190520"/>
            <a:ext cx="1632420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513"/>
              </a:lnSpc>
            </a:pPr>
            <a:r>
              <a:rPr lang="en-US" sz="4440" b="1" u="none" strike="noStrike">
                <a:solidFill>
                  <a:srgbClr val="000000"/>
                </a:solidFill>
                <a:effectLst/>
                <a:uFillTx/>
                <a:latin typeface="Source Serif Pro Bold"/>
                <a:ea typeface="Source Serif Pro Bold"/>
              </a:rPr>
              <a:t>Referências</a:t>
            </a:r>
            <a:endParaRPr lang="en-US" sz="4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3"/>
          <p:cNvSpPr/>
          <p:nvPr/>
        </p:nvSpPr>
        <p:spPr>
          <a:xfrm>
            <a:off x="1367280" y="2196360"/>
            <a:ext cx="161643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447120" lvl="1" indent="-223560" defTabSz="914400">
              <a:lnSpc>
                <a:spcPts val="324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FOWLER, M. Future Of Software Development. martinfowler.com, 2026.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7120" lvl="1" indent="-223560" defTabSz="914400">
              <a:lnSpc>
                <a:spcPts val="324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HARMEL-LAW, A. Are non-functional requirements the missing guardrail for AI-generated code? Thoughtworks, 2026.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7120" lvl="1" indent="-223560" defTabSz="914400">
              <a:lnSpc>
                <a:spcPts val="324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KARPATHY, A. Publicação que cunhou o termo “vibe coding”. X, fev. 2025.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7120" lvl="1" indent="-223560" defTabSz="914400">
              <a:lnSpc>
                <a:spcPts val="324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SFIA FOUNDATION. SFIA v9 and SWEBOK v4: The guide to the software engineering body of knowledge. 2026.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7120" lvl="1" indent="-223560" defTabSz="914400">
              <a:lnSpc>
                <a:spcPts val="324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THORGEIRSSON, S.; WEIDMANN, T. B.; SU, Z. Computer Science Achievement and Writing Skills Predict Vibe Coding Proficiency. CHI ’26, ACM, 2026.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7120" lvl="1" indent="-223560" defTabSz="914400">
              <a:lnSpc>
                <a:spcPts val="324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THOUGHTWORKS. Technology Radar urges a return to engineering fundamentals to combat cognitive debt. 2026.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7120" lvl="1" indent="-223560" defTabSz="914400">
              <a:lnSpc>
                <a:spcPts val="324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WILLISON, S. Not all AI-assisted programming is vibe coding. Simon Willison’s Weblog, 2025.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Box 2"/>
          <p:cNvSpPr/>
          <p:nvPr/>
        </p:nvSpPr>
        <p:spPr>
          <a:xfrm>
            <a:off x="1028880" y="4185720"/>
            <a:ext cx="16230240" cy="20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321"/>
              </a:lnSpc>
            </a:pPr>
            <a:r>
              <a:rPr lang="en-US" sz="5040" b="1" u="none" strike="noStrike">
                <a:solidFill>
                  <a:srgbClr val="000000"/>
                </a:solidFill>
                <a:effectLst/>
                <a:uFillTx/>
                <a:latin typeface="Source Serif Pro Bold"/>
                <a:ea typeface="Source Serif Pro Bold"/>
              </a:rPr>
              <a:t>Como se forma um desenvolvedor experiente – e o que acontece se as tarefas de iniciante desaparecem para a IA?</a:t>
            </a:r>
            <a:endParaRPr lang="en-US" sz="5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3"/>
          <p:cNvSpPr/>
          <p:nvPr/>
        </p:nvSpPr>
        <p:spPr>
          <a:xfrm>
            <a:off x="981360" y="9271440"/>
            <a:ext cx="163242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Fontes: KOSMYNA /  LUCCHETTI, F / THORGEIRSSON, S.; WEIDMANN, T.; SU, Z.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Box 2"/>
          <p:cNvSpPr/>
          <p:nvPr/>
        </p:nvSpPr>
        <p:spPr>
          <a:xfrm>
            <a:off x="1028880" y="1038240"/>
            <a:ext cx="14676840" cy="13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400"/>
              </a:lnSpc>
            </a:pPr>
            <a:r>
              <a:rPr lang="en-US" sz="4500" b="1" u="none" strike="noStrike">
                <a:solidFill>
                  <a:srgbClr val="000000"/>
                </a:solidFill>
                <a:effectLst/>
                <a:uFillTx/>
                <a:latin typeface="Source Serif Pro Bold"/>
                <a:ea typeface="Source Serif Pro Bold"/>
              </a:rPr>
              <a:t>O que acontece com o cérebro e a capacidade técnica ao programar usando IA.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8" name="Group 3"/>
          <p:cNvGrpSpPr/>
          <p:nvPr/>
        </p:nvGrpSpPr>
        <p:grpSpPr>
          <a:xfrm>
            <a:off x="1028880" y="4481640"/>
            <a:ext cx="16229880" cy="1309320"/>
            <a:chOff x="1028880" y="4481640"/>
            <a:chExt cx="16229880" cy="1309320"/>
          </a:xfrm>
        </p:grpSpPr>
        <p:sp>
          <p:nvSpPr>
            <p:cNvPr id="329" name="TextBox 4"/>
            <p:cNvSpPr/>
            <p:nvPr/>
          </p:nvSpPr>
          <p:spPr>
            <a:xfrm>
              <a:off x="1028880" y="4481640"/>
              <a:ext cx="4207680" cy="130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Problemas básicos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TextBox 5"/>
            <p:cNvSpPr/>
            <p:nvPr/>
          </p:nvSpPr>
          <p:spPr>
            <a:xfrm>
              <a:off x="7039800" y="4481640"/>
              <a:ext cx="4207680" cy="130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Capacidade Analítica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TextBox 6"/>
            <p:cNvSpPr/>
            <p:nvPr/>
          </p:nvSpPr>
          <p:spPr>
            <a:xfrm>
              <a:off x="13051080" y="4481640"/>
              <a:ext cx="4207680" cy="66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Atrito Cognitivo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AutoShape 7"/>
            <p:cNvSpPr/>
            <p:nvPr/>
          </p:nvSpPr>
          <p:spPr>
            <a:xfrm>
              <a:off x="4968000" y="5124240"/>
              <a:ext cx="2152080" cy="360"/>
            </a:xfrm>
            <a:prstGeom prst="line">
              <a:avLst/>
            </a:prstGeom>
            <a:ln w="508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AutoShape 8"/>
            <p:cNvSpPr/>
            <p:nvPr/>
          </p:nvSpPr>
          <p:spPr>
            <a:xfrm>
              <a:off x="10792440" y="5143320"/>
              <a:ext cx="2152080" cy="360"/>
            </a:xfrm>
            <a:prstGeom prst="line">
              <a:avLst/>
            </a:prstGeom>
            <a:ln w="508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Box 2"/>
          <p:cNvSpPr/>
          <p:nvPr/>
        </p:nvSpPr>
        <p:spPr>
          <a:xfrm>
            <a:off x="1028880" y="1038240"/>
            <a:ext cx="146768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400"/>
              </a:lnSpc>
            </a:pPr>
            <a:r>
              <a:rPr lang="en-US" sz="4500" b="1" u="none" strike="noStrike">
                <a:solidFill>
                  <a:srgbClr val="000000"/>
                </a:solidFill>
                <a:effectLst/>
                <a:uFillTx/>
                <a:latin typeface="Source Serif Pro Bold"/>
                <a:ea typeface="Source Serif Pro Bold"/>
              </a:rPr>
              <a:t>O que a IA precisa de nós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3"/>
          <p:cNvSpPr/>
          <p:nvPr/>
        </p:nvSpPr>
        <p:spPr>
          <a:xfrm>
            <a:off x="7039800" y="3081240"/>
            <a:ext cx="42076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59"/>
              </a:lnSpc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Prompts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6" name="Group 4"/>
          <p:cNvGrpSpPr/>
          <p:nvPr/>
        </p:nvGrpSpPr>
        <p:grpSpPr>
          <a:xfrm>
            <a:off x="1775520" y="5133960"/>
            <a:ext cx="5329800" cy="3034800"/>
            <a:chOff x="1775520" y="5133960"/>
            <a:chExt cx="5329800" cy="3034800"/>
          </a:xfrm>
        </p:grpSpPr>
        <p:sp>
          <p:nvSpPr>
            <p:cNvPr id="337" name="TextBox 5"/>
            <p:cNvSpPr/>
            <p:nvPr/>
          </p:nvSpPr>
          <p:spPr>
            <a:xfrm>
              <a:off x="1775520" y="5133960"/>
              <a:ext cx="5329800" cy="66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Lógica do problema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TextBox 6"/>
            <p:cNvSpPr/>
            <p:nvPr/>
          </p:nvSpPr>
          <p:spPr>
            <a:xfrm>
              <a:off x="2336760" y="7507080"/>
              <a:ext cx="4207680" cy="66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90% de sucesso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AutoShape 7"/>
            <p:cNvSpPr/>
            <p:nvPr/>
          </p:nvSpPr>
          <p:spPr>
            <a:xfrm>
              <a:off x="4440600" y="6271920"/>
              <a:ext cx="360" cy="773280"/>
            </a:xfrm>
            <a:prstGeom prst="line">
              <a:avLst/>
            </a:prstGeom>
            <a:ln w="508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0" name="Group 8"/>
          <p:cNvGrpSpPr/>
          <p:nvPr/>
        </p:nvGrpSpPr>
        <p:grpSpPr>
          <a:xfrm>
            <a:off x="11381040" y="5129280"/>
            <a:ext cx="5329800" cy="3037680"/>
            <a:chOff x="11381040" y="5129280"/>
            <a:chExt cx="5329800" cy="3037680"/>
          </a:xfrm>
        </p:grpSpPr>
        <p:sp>
          <p:nvSpPr>
            <p:cNvPr id="341" name="TextBox 9"/>
            <p:cNvSpPr/>
            <p:nvPr/>
          </p:nvSpPr>
          <p:spPr>
            <a:xfrm>
              <a:off x="11381040" y="5129280"/>
              <a:ext cx="5329800" cy="66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Troca de palavras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TextBox 10"/>
            <p:cNvSpPr/>
            <p:nvPr/>
          </p:nvSpPr>
          <p:spPr>
            <a:xfrm>
              <a:off x="11922840" y="7505280"/>
              <a:ext cx="4207680" cy="66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29% de sucesso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AutoShape 11"/>
            <p:cNvSpPr/>
            <p:nvPr/>
          </p:nvSpPr>
          <p:spPr>
            <a:xfrm>
              <a:off x="14045760" y="6267240"/>
              <a:ext cx="360" cy="772920"/>
            </a:xfrm>
            <a:prstGeom prst="line">
              <a:avLst/>
            </a:prstGeom>
            <a:ln w="508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4" name="TextBox 12"/>
          <p:cNvSpPr/>
          <p:nvPr/>
        </p:nvSpPr>
        <p:spPr>
          <a:xfrm>
            <a:off x="981360" y="9271440"/>
            <a:ext cx="1632420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Fonte: Lucchetti et al. (Northeastern University — NAACL)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Box 2"/>
          <p:cNvSpPr/>
          <p:nvPr/>
        </p:nvSpPr>
        <p:spPr>
          <a:xfrm>
            <a:off x="1028880" y="1038240"/>
            <a:ext cx="146768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400"/>
              </a:lnSpc>
            </a:pPr>
            <a:r>
              <a:rPr lang="en-US" sz="4500" b="1" u="none" strike="noStrike">
                <a:solidFill>
                  <a:srgbClr val="000000"/>
                </a:solidFill>
                <a:effectLst/>
                <a:uFillTx/>
                <a:latin typeface="Source Serif Pro Bold"/>
                <a:ea typeface="Source Serif Pro Bold"/>
              </a:rPr>
              <a:t>De onde vem a capacidade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3"/>
          <p:cNvSpPr/>
          <p:nvPr/>
        </p:nvSpPr>
        <p:spPr>
          <a:xfrm>
            <a:off x="1028880" y="3261960"/>
            <a:ext cx="8264520" cy="13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59"/>
              </a:lnSpc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Fundamentos em Ciência da Computação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4"/>
          <p:cNvSpPr/>
          <p:nvPr/>
        </p:nvSpPr>
        <p:spPr>
          <a:xfrm>
            <a:off x="1028880" y="5630760"/>
            <a:ext cx="8264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59"/>
              </a:lnSpc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Habilidade de Escrita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5"/>
          <p:cNvSpPr/>
          <p:nvPr/>
        </p:nvSpPr>
        <p:spPr>
          <a:xfrm>
            <a:off x="1028880" y="7597800"/>
            <a:ext cx="8264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59"/>
              </a:lnSpc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Uso diário de LLM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6"/>
          <p:cNvSpPr/>
          <p:nvPr/>
        </p:nvSpPr>
        <p:spPr>
          <a:xfrm>
            <a:off x="8994240" y="3668760"/>
            <a:ext cx="8264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59"/>
              </a:lnSpc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+0.39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7"/>
          <p:cNvSpPr/>
          <p:nvPr/>
        </p:nvSpPr>
        <p:spPr>
          <a:xfrm>
            <a:off x="8994240" y="5630760"/>
            <a:ext cx="8264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59"/>
              </a:lnSpc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+0.29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8"/>
          <p:cNvSpPr/>
          <p:nvPr/>
        </p:nvSpPr>
        <p:spPr>
          <a:xfrm>
            <a:off x="8994240" y="7597800"/>
            <a:ext cx="8264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59"/>
              </a:lnSpc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-0.258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AutoShape 9"/>
          <p:cNvSpPr/>
          <p:nvPr/>
        </p:nvSpPr>
        <p:spPr>
          <a:xfrm>
            <a:off x="9293400" y="4030560"/>
            <a:ext cx="2152080" cy="360"/>
          </a:xfrm>
          <a:prstGeom prst="line">
            <a:avLst/>
          </a:prstGeom>
          <a:ln w="38100">
            <a:solidFill>
              <a:srgbClr val="000000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AutoShape 10"/>
          <p:cNvSpPr/>
          <p:nvPr/>
        </p:nvSpPr>
        <p:spPr>
          <a:xfrm>
            <a:off x="9293400" y="5973480"/>
            <a:ext cx="2152080" cy="360"/>
          </a:xfrm>
          <a:prstGeom prst="line">
            <a:avLst/>
          </a:prstGeom>
          <a:ln w="38100">
            <a:solidFill>
              <a:srgbClr val="000000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AutoShape 11"/>
          <p:cNvSpPr/>
          <p:nvPr/>
        </p:nvSpPr>
        <p:spPr>
          <a:xfrm>
            <a:off x="9293400" y="7959600"/>
            <a:ext cx="2152080" cy="360"/>
          </a:xfrm>
          <a:prstGeom prst="line">
            <a:avLst/>
          </a:prstGeom>
          <a:ln w="38100">
            <a:solidFill>
              <a:srgbClr val="000000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2"/>
          <p:cNvSpPr/>
          <p:nvPr/>
        </p:nvSpPr>
        <p:spPr>
          <a:xfrm>
            <a:off x="981360" y="9271440"/>
            <a:ext cx="1632420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Fonte: Thorgeirsson, Weidmann &amp; Su (ETH Zurich — CHI)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2"/>
          <p:cNvSpPr/>
          <p:nvPr/>
        </p:nvSpPr>
        <p:spPr>
          <a:xfrm>
            <a:off x="1028880" y="1038240"/>
            <a:ext cx="146768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400"/>
              </a:lnSpc>
            </a:pPr>
            <a:r>
              <a:rPr lang="en-US" sz="4500" b="1" u="none" strike="noStrike">
                <a:solidFill>
                  <a:srgbClr val="000000"/>
                </a:solidFill>
                <a:effectLst/>
                <a:uFillTx/>
                <a:latin typeface="Source Serif Pro Bold"/>
                <a:ea typeface="Source Serif Pro Bold"/>
              </a:rPr>
              <a:t>Custo Cognitivo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3"/>
          <p:cNvSpPr/>
          <p:nvPr/>
        </p:nvSpPr>
        <p:spPr>
          <a:xfrm>
            <a:off x="1828800" y="2885760"/>
            <a:ext cx="6563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59"/>
              </a:lnSpc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Trabalho Manual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4"/>
          <p:cNvSpPr/>
          <p:nvPr/>
        </p:nvSpPr>
        <p:spPr>
          <a:xfrm>
            <a:off x="10058400" y="2885760"/>
            <a:ext cx="6563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59"/>
              </a:lnSpc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Uso de LLM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5"/>
          <p:cNvSpPr/>
          <p:nvPr/>
        </p:nvSpPr>
        <p:spPr>
          <a:xfrm>
            <a:off x="4970520" y="5091120"/>
            <a:ext cx="8346240" cy="13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928440" lvl="1" indent="-464040" defTabSz="914400">
              <a:lnSpc>
                <a:spcPts val="5159"/>
              </a:lnSpc>
              <a:buClr>
                <a:srgbClr val="000000"/>
              </a:buClr>
              <a:buFont typeface="Arial"/>
              <a:buChar char="•"/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-55% de conectividade neural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8440" lvl="1" indent="-464040" defTabSz="914400">
              <a:lnSpc>
                <a:spcPts val="5159"/>
              </a:lnSpc>
              <a:buClr>
                <a:srgbClr val="000000"/>
              </a:buClr>
              <a:buFont typeface="Arial"/>
              <a:buChar char="•"/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Zero Retenção: 83% de falha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6"/>
          <p:cNvSpPr/>
          <p:nvPr/>
        </p:nvSpPr>
        <p:spPr>
          <a:xfrm>
            <a:off x="4872600" y="7943760"/>
            <a:ext cx="8542800" cy="13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59"/>
              </a:lnSpc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IA sem esforço → desliga o cérebro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7"/>
          <p:cNvSpPr/>
          <p:nvPr/>
        </p:nvSpPr>
        <p:spPr>
          <a:xfrm>
            <a:off x="981360" y="9271440"/>
            <a:ext cx="1632420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25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Fonte: Kosmyna et al. (MIT Media Lab — 2025)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Box 2"/>
          <p:cNvSpPr/>
          <p:nvPr/>
        </p:nvSpPr>
        <p:spPr>
          <a:xfrm>
            <a:off x="1028880" y="1038240"/>
            <a:ext cx="146768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400"/>
              </a:lnSpc>
            </a:pPr>
            <a:r>
              <a:rPr lang="en-US" sz="4500" b="1" u="none" strike="noStrike">
                <a:solidFill>
                  <a:srgbClr val="000000"/>
                </a:solidFill>
                <a:effectLst/>
                <a:uFillTx/>
                <a:latin typeface="Source Serif Pro Bold"/>
                <a:ea typeface="Source Serif Pro Bold"/>
              </a:rPr>
              <a:t>Solução: Modelo “Brain-to-LLM”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3"/>
          <p:cNvSpPr/>
          <p:nvPr/>
        </p:nvSpPr>
        <p:spPr>
          <a:xfrm>
            <a:off x="5862240" y="3069360"/>
            <a:ext cx="6563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59"/>
              </a:lnSpc>
            </a:pPr>
            <a:r>
              <a: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Treino Autônomo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4" name="Group 4"/>
          <p:cNvGrpSpPr/>
          <p:nvPr/>
        </p:nvGrpSpPr>
        <p:grpSpPr>
          <a:xfrm>
            <a:off x="1027080" y="4883760"/>
            <a:ext cx="16231680" cy="1309320"/>
            <a:chOff x="1027080" y="4883760"/>
            <a:chExt cx="16231680" cy="1309320"/>
          </a:xfrm>
        </p:grpSpPr>
        <p:sp>
          <p:nvSpPr>
            <p:cNvPr id="365" name="TextBox 5"/>
            <p:cNvSpPr/>
            <p:nvPr/>
          </p:nvSpPr>
          <p:spPr>
            <a:xfrm>
              <a:off x="1027080" y="4883760"/>
              <a:ext cx="4833000" cy="130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+78% de retenção e memória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TextBox 6"/>
            <p:cNvSpPr/>
            <p:nvPr/>
          </p:nvSpPr>
          <p:spPr>
            <a:xfrm>
              <a:off x="6725520" y="5207760"/>
              <a:ext cx="4833000" cy="66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Análise Crítica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TextBox 7"/>
            <p:cNvSpPr/>
            <p:nvPr/>
          </p:nvSpPr>
          <p:spPr>
            <a:xfrm>
              <a:off x="12425760" y="5207760"/>
              <a:ext cx="4833000" cy="66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Aprender a pensar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8" name="Group 8"/>
          <p:cNvGrpSpPr/>
          <p:nvPr/>
        </p:nvGrpSpPr>
        <p:grpSpPr>
          <a:xfrm>
            <a:off x="1028880" y="7948440"/>
            <a:ext cx="16233120" cy="1309320"/>
            <a:chOff x="1028880" y="7948440"/>
            <a:chExt cx="16233120" cy="1309320"/>
          </a:xfrm>
        </p:grpSpPr>
        <p:sp>
          <p:nvSpPr>
            <p:cNvPr id="369" name="TextBox 9"/>
            <p:cNvSpPr/>
            <p:nvPr/>
          </p:nvSpPr>
          <p:spPr>
            <a:xfrm>
              <a:off x="1028880" y="8272440"/>
              <a:ext cx="4833000" cy="66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Esboço Lógico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TextBox 10"/>
            <p:cNvSpPr/>
            <p:nvPr/>
          </p:nvSpPr>
          <p:spPr>
            <a:xfrm>
              <a:off x="6728760" y="8272440"/>
              <a:ext cx="4833000" cy="66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Amplificação (IA)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1" name="TextBox 11"/>
            <p:cNvSpPr/>
            <p:nvPr/>
          </p:nvSpPr>
          <p:spPr>
            <a:xfrm>
              <a:off x="12429000" y="7948440"/>
              <a:ext cx="4833000" cy="130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159"/>
                </a:lnSpc>
              </a:pPr>
              <a:r>
                <a:rPr lang="en-US" sz="43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Auditoria Arquitetural</a:t>
              </a:r>
              <a:endParaRPr lang="en-US" sz="4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2" name="AutoShape 1"/>
          <p:cNvSpPr/>
          <p:nvPr/>
        </p:nvSpPr>
        <p:spPr>
          <a:xfrm>
            <a:off x="5620320" y="8686800"/>
            <a:ext cx="1009080" cy="0"/>
          </a:xfrm>
          <a:prstGeom prst="line">
            <a:avLst/>
          </a:prstGeom>
          <a:ln w="38100">
            <a:solidFill>
              <a:srgbClr val="000000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AutoShape 3"/>
          <p:cNvSpPr/>
          <p:nvPr/>
        </p:nvSpPr>
        <p:spPr>
          <a:xfrm>
            <a:off x="11887200" y="8686800"/>
            <a:ext cx="1009080" cy="0"/>
          </a:xfrm>
          <a:prstGeom prst="line">
            <a:avLst/>
          </a:prstGeom>
          <a:ln w="38100">
            <a:solidFill>
              <a:srgbClr val="000000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AutoShape 2"/>
          <p:cNvSpPr/>
          <p:nvPr/>
        </p:nvSpPr>
        <p:spPr>
          <a:xfrm flipH="1">
            <a:off x="5943600" y="3886200"/>
            <a:ext cx="2971800" cy="1371600"/>
          </a:xfrm>
          <a:prstGeom prst="line">
            <a:avLst/>
          </a:prstGeom>
          <a:ln w="38100">
            <a:solidFill>
              <a:srgbClr val="000000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AutoShape 4"/>
          <p:cNvSpPr/>
          <p:nvPr/>
        </p:nvSpPr>
        <p:spPr>
          <a:xfrm>
            <a:off x="9372600" y="3886200"/>
            <a:ext cx="3053160" cy="1321560"/>
          </a:xfrm>
          <a:prstGeom prst="line">
            <a:avLst/>
          </a:prstGeom>
          <a:ln w="38100">
            <a:solidFill>
              <a:srgbClr val="000000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AutoShape 5"/>
          <p:cNvSpPr/>
          <p:nvPr/>
        </p:nvSpPr>
        <p:spPr>
          <a:xfrm>
            <a:off x="9144000" y="3886200"/>
            <a:ext cx="0" cy="1321560"/>
          </a:xfrm>
          <a:prstGeom prst="line">
            <a:avLst/>
          </a:prstGeom>
          <a:ln w="38100">
            <a:solidFill>
              <a:srgbClr val="000000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DAHYFPWQvAY</dc:identifier>
  <dc:language>en-US</dc:language>
  <cp:lastModifiedBy/>
  <dcterms:modified xsi:type="dcterms:W3CDTF">2026-10-15T11:36:22Z</dcterms:modified>
  <cp:revision>3</cp:revision>
  <dc:subject/>
  <dc:title>Desenvolvimento-Metricas-e-IA-no-Ecossistema-de-Software.pptx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